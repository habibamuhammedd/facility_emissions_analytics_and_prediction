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7" r:id="rId1"/>
  </p:sldMasterIdLst>
  <p:notesMasterIdLst>
    <p:notesMasterId r:id="rId42"/>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73" r:id="rId14"/>
    <p:sldId id="270" r:id="rId15"/>
    <p:sldId id="271" r:id="rId16"/>
    <p:sldId id="272" r:id="rId17"/>
    <p:sldId id="274" r:id="rId18"/>
    <p:sldId id="275" r:id="rId19"/>
    <p:sldId id="276" r:id="rId20"/>
    <p:sldId id="277" r:id="rId21"/>
    <p:sldId id="278" r:id="rId22"/>
    <p:sldId id="279" r:id="rId23"/>
    <p:sldId id="281" r:id="rId24"/>
    <p:sldId id="282" r:id="rId25"/>
    <p:sldId id="283" r:id="rId26"/>
    <p:sldId id="284" r:id="rId27"/>
    <p:sldId id="285" r:id="rId28"/>
    <p:sldId id="286" r:id="rId29"/>
    <p:sldId id="287" r:id="rId30"/>
    <p:sldId id="263" r:id="rId31"/>
    <p:sldId id="288" r:id="rId32"/>
    <p:sldId id="289" r:id="rId33"/>
    <p:sldId id="290" r:id="rId34"/>
    <p:sldId id="291" r:id="rId35"/>
    <p:sldId id="292" r:id="rId36"/>
    <p:sldId id="269" r:id="rId37"/>
    <p:sldId id="293" r:id="rId38"/>
    <p:sldId id="294" r:id="rId39"/>
    <p:sldId id="295" r:id="rId40"/>
    <p:sldId id="29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2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7">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17623A-2C14-48A3-9AE0-10CDFB55DE26}" type="doc">
      <dgm:prSet loTypeId="urn:microsoft.com/office/officeart/2005/8/layout/default" loCatId="list" qsTypeId="urn:microsoft.com/office/officeart/2005/8/quickstyle/simple1#3" qsCatId="simple" csTypeId="urn:microsoft.com/office/officeart/2005/8/colors/accent2_2#1" csCatId="accent2"/>
      <dgm:spPr/>
      <dgm:t>
        <a:bodyPr/>
        <a:lstStyle/>
        <a:p>
          <a:endParaRPr lang="en-US"/>
        </a:p>
      </dgm:t>
    </dgm:pt>
    <dgm:pt modelId="{FE861FF8-A5F4-419A-8D5B-8DBBB42E2BF0}">
      <dgm:prSet/>
      <dgm:spPr/>
      <dgm:t>
        <a:bodyPr/>
        <a:lstStyle/>
        <a:p>
          <a:r>
            <a:rPr lang="en-US" b="1"/>
            <a:t>Financing Opportunities:</a:t>
          </a:r>
          <a:endParaRPr lang="en-US"/>
        </a:p>
      </dgm:t>
    </dgm:pt>
    <dgm:pt modelId="{E9C0FEC0-A215-469C-BA8C-0989761C4354}" type="parTrans" cxnId="{DC4761C7-CD4A-44A7-9383-81921D04CE34}">
      <dgm:prSet/>
      <dgm:spPr/>
      <dgm:t>
        <a:bodyPr/>
        <a:lstStyle/>
        <a:p>
          <a:endParaRPr lang="en-US"/>
        </a:p>
      </dgm:t>
    </dgm:pt>
    <dgm:pt modelId="{77EA9D43-C396-4496-B73D-63A052FDE8C3}" type="sibTrans" cxnId="{DC4761C7-CD4A-44A7-9383-81921D04CE34}">
      <dgm:prSet/>
      <dgm:spPr/>
      <dgm:t>
        <a:bodyPr/>
        <a:lstStyle/>
        <a:p>
          <a:endParaRPr lang="en-US"/>
        </a:p>
      </dgm:t>
    </dgm:pt>
    <dgm:pt modelId="{C34C983D-0493-44A6-9A5F-D5A00892F8DE}">
      <dgm:prSet/>
      <dgm:spPr/>
      <dgm:t>
        <a:bodyPr/>
        <a:lstStyle/>
        <a:p>
          <a:r>
            <a:rPr lang="en-US"/>
            <a:t>Green financing </a:t>
          </a:r>
        </a:p>
      </dgm:t>
    </dgm:pt>
    <dgm:pt modelId="{CE6E282F-689E-4052-ACAB-644BA4FB1647}" type="parTrans" cxnId="{9F68A30C-CD40-4582-ACBC-AD1663EA7E9C}">
      <dgm:prSet/>
      <dgm:spPr/>
      <dgm:t>
        <a:bodyPr/>
        <a:lstStyle/>
        <a:p>
          <a:endParaRPr lang="en-US"/>
        </a:p>
      </dgm:t>
    </dgm:pt>
    <dgm:pt modelId="{8D682838-B8CB-418B-B640-E80177A98D18}" type="sibTrans" cxnId="{9F68A30C-CD40-4582-ACBC-AD1663EA7E9C}">
      <dgm:prSet/>
      <dgm:spPr/>
      <dgm:t>
        <a:bodyPr/>
        <a:lstStyle/>
        <a:p>
          <a:endParaRPr lang="en-US"/>
        </a:p>
      </dgm:t>
    </dgm:pt>
    <dgm:pt modelId="{1384F0B8-796B-4723-A91B-47FC36B80755}">
      <dgm:prSet/>
      <dgm:spPr/>
      <dgm:t>
        <a:bodyPr/>
        <a:lstStyle/>
        <a:p>
          <a:r>
            <a:rPr lang="en-US"/>
            <a:t>Sustainability-linked loans </a:t>
          </a:r>
        </a:p>
      </dgm:t>
    </dgm:pt>
    <dgm:pt modelId="{7DE3FF5D-ED21-4F7F-8744-D12563C4339D}" type="parTrans" cxnId="{2B18F818-CF05-4164-8AE6-6B3F4E6BA3D4}">
      <dgm:prSet/>
      <dgm:spPr/>
      <dgm:t>
        <a:bodyPr/>
        <a:lstStyle/>
        <a:p>
          <a:endParaRPr lang="en-US"/>
        </a:p>
      </dgm:t>
    </dgm:pt>
    <dgm:pt modelId="{45B80BD9-6D4B-41BA-AF37-8548277A1DAE}" type="sibTrans" cxnId="{2B18F818-CF05-4164-8AE6-6B3F4E6BA3D4}">
      <dgm:prSet/>
      <dgm:spPr/>
      <dgm:t>
        <a:bodyPr/>
        <a:lstStyle/>
        <a:p>
          <a:endParaRPr lang="en-US"/>
        </a:p>
      </dgm:t>
    </dgm:pt>
    <dgm:pt modelId="{3D33E7BA-DB06-47D3-A947-3B2D168A45D6}">
      <dgm:prSet/>
      <dgm:spPr/>
      <dgm:t>
        <a:bodyPr/>
        <a:lstStyle/>
        <a:p>
          <a:r>
            <a:rPr lang="en-US"/>
            <a:t>Renewable energy projects </a:t>
          </a:r>
        </a:p>
      </dgm:t>
    </dgm:pt>
    <dgm:pt modelId="{635C5E7F-4282-4002-89C1-C0EBF9B9B7FC}" type="parTrans" cxnId="{C42DD823-424C-43AA-A023-22D09E9B140F}">
      <dgm:prSet/>
      <dgm:spPr/>
      <dgm:t>
        <a:bodyPr/>
        <a:lstStyle/>
        <a:p>
          <a:endParaRPr lang="en-US"/>
        </a:p>
      </dgm:t>
    </dgm:pt>
    <dgm:pt modelId="{15C9B95C-54A2-49CD-96FB-3A0406759DBB}" type="sibTrans" cxnId="{C42DD823-424C-43AA-A023-22D09E9B140F}">
      <dgm:prSet/>
      <dgm:spPr/>
      <dgm:t>
        <a:bodyPr/>
        <a:lstStyle/>
        <a:p>
          <a:endParaRPr lang="en-US"/>
        </a:p>
      </dgm:t>
    </dgm:pt>
    <dgm:pt modelId="{A2672095-3FE5-48E5-9D9A-7FF1B7166577}">
      <dgm:prSet/>
      <dgm:spPr/>
      <dgm:t>
        <a:bodyPr/>
        <a:lstStyle/>
        <a:p>
          <a:r>
            <a:rPr lang="en-US"/>
            <a:t>Energy-efficiency investments </a:t>
          </a:r>
        </a:p>
      </dgm:t>
    </dgm:pt>
    <dgm:pt modelId="{3A343E11-7E3B-48A6-893C-662C1F10C1E4}" type="parTrans" cxnId="{9A27BD47-1D27-473D-B981-E949BAA3279B}">
      <dgm:prSet/>
      <dgm:spPr/>
      <dgm:t>
        <a:bodyPr/>
        <a:lstStyle/>
        <a:p>
          <a:endParaRPr lang="en-US"/>
        </a:p>
      </dgm:t>
    </dgm:pt>
    <dgm:pt modelId="{600719CE-E032-4377-B509-03ABAAFA0517}" type="sibTrans" cxnId="{9A27BD47-1D27-473D-B981-E949BAA3279B}">
      <dgm:prSet/>
      <dgm:spPr/>
      <dgm:t>
        <a:bodyPr/>
        <a:lstStyle/>
        <a:p>
          <a:endParaRPr lang="en-US"/>
        </a:p>
      </dgm:t>
    </dgm:pt>
    <dgm:pt modelId="{D60F27B6-1DDC-49A6-810F-BBDD3438CC5A}">
      <dgm:prSet/>
      <dgm:spPr/>
      <dgm:t>
        <a:bodyPr/>
        <a:lstStyle/>
        <a:p>
          <a:r>
            <a:rPr lang="en-US"/>
            <a:t>Clean technology adoption </a:t>
          </a:r>
        </a:p>
      </dgm:t>
    </dgm:pt>
    <dgm:pt modelId="{BD2D2A42-A053-4774-A953-59D79A38E3E3}" type="parTrans" cxnId="{0821A0C5-D5D4-48BC-8FA4-672C71868BD5}">
      <dgm:prSet/>
      <dgm:spPr/>
      <dgm:t>
        <a:bodyPr/>
        <a:lstStyle/>
        <a:p>
          <a:endParaRPr lang="en-US"/>
        </a:p>
      </dgm:t>
    </dgm:pt>
    <dgm:pt modelId="{B79B8F5D-FECD-45C2-B9E0-AB2F03077CE9}" type="sibTrans" cxnId="{0821A0C5-D5D4-48BC-8FA4-672C71868BD5}">
      <dgm:prSet/>
      <dgm:spPr/>
      <dgm:t>
        <a:bodyPr/>
        <a:lstStyle/>
        <a:p>
          <a:endParaRPr lang="en-US"/>
        </a:p>
      </dgm:t>
    </dgm:pt>
    <dgm:pt modelId="{41053EC1-0528-4915-8AB5-FB5CFE9E5C51}" type="pres">
      <dgm:prSet presAssocID="{7217623A-2C14-48A3-9AE0-10CDFB55DE26}" presName="diagram" presStyleCnt="0">
        <dgm:presLayoutVars>
          <dgm:dir/>
          <dgm:resizeHandles val="exact"/>
        </dgm:presLayoutVars>
      </dgm:prSet>
      <dgm:spPr/>
    </dgm:pt>
    <dgm:pt modelId="{4EE270E5-79EC-4347-B805-85F1D00AC974}" type="pres">
      <dgm:prSet presAssocID="{FE861FF8-A5F4-419A-8D5B-8DBBB42E2BF0}" presName="node" presStyleLbl="node1" presStyleIdx="0" presStyleCnt="1">
        <dgm:presLayoutVars>
          <dgm:bulletEnabled val="1"/>
        </dgm:presLayoutVars>
      </dgm:prSet>
      <dgm:spPr/>
    </dgm:pt>
  </dgm:ptLst>
  <dgm:cxnLst>
    <dgm:cxn modelId="{9F68A30C-CD40-4582-ACBC-AD1663EA7E9C}" srcId="{FE861FF8-A5F4-419A-8D5B-8DBBB42E2BF0}" destId="{C34C983D-0493-44A6-9A5F-D5A00892F8DE}" srcOrd="0" destOrd="0" parTransId="{CE6E282F-689E-4052-ACAB-644BA4FB1647}" sibTransId="{8D682838-B8CB-418B-B640-E80177A98D18}"/>
    <dgm:cxn modelId="{2B18F818-CF05-4164-8AE6-6B3F4E6BA3D4}" srcId="{FE861FF8-A5F4-419A-8D5B-8DBBB42E2BF0}" destId="{1384F0B8-796B-4723-A91B-47FC36B80755}" srcOrd="1" destOrd="0" parTransId="{7DE3FF5D-ED21-4F7F-8744-D12563C4339D}" sibTransId="{45B80BD9-6D4B-41BA-AF37-8548277A1DAE}"/>
    <dgm:cxn modelId="{C42DD823-424C-43AA-A023-22D09E9B140F}" srcId="{FE861FF8-A5F4-419A-8D5B-8DBBB42E2BF0}" destId="{3D33E7BA-DB06-47D3-A947-3B2D168A45D6}" srcOrd="2" destOrd="0" parTransId="{635C5E7F-4282-4002-89C1-C0EBF9B9B7FC}" sibTransId="{15C9B95C-54A2-49CD-96FB-3A0406759DBB}"/>
    <dgm:cxn modelId="{C57EF52B-2F77-4E75-8767-322F9F217D79}" type="presOf" srcId="{C34C983D-0493-44A6-9A5F-D5A00892F8DE}" destId="{4EE270E5-79EC-4347-B805-85F1D00AC974}" srcOrd="0" destOrd="1" presId="urn:microsoft.com/office/officeart/2005/8/layout/default"/>
    <dgm:cxn modelId="{5A5EFA5C-416C-414D-9A5C-91E11E5C5DA2}" type="presOf" srcId="{1384F0B8-796B-4723-A91B-47FC36B80755}" destId="{4EE270E5-79EC-4347-B805-85F1D00AC974}" srcOrd="0" destOrd="2" presId="urn:microsoft.com/office/officeart/2005/8/layout/default"/>
    <dgm:cxn modelId="{9A27BD47-1D27-473D-B981-E949BAA3279B}" srcId="{FE861FF8-A5F4-419A-8D5B-8DBBB42E2BF0}" destId="{A2672095-3FE5-48E5-9D9A-7FF1B7166577}" srcOrd="3" destOrd="0" parTransId="{3A343E11-7E3B-48A6-893C-662C1F10C1E4}" sibTransId="{600719CE-E032-4377-B509-03ABAAFA0517}"/>
    <dgm:cxn modelId="{55B7776F-A729-406B-99BC-093B3A737FF1}" type="presOf" srcId="{7217623A-2C14-48A3-9AE0-10CDFB55DE26}" destId="{41053EC1-0528-4915-8AB5-FB5CFE9E5C51}" srcOrd="0" destOrd="0" presId="urn:microsoft.com/office/officeart/2005/8/layout/default"/>
    <dgm:cxn modelId="{E1E10554-F866-4CC6-8407-429AF401DCAF}" type="presOf" srcId="{A2672095-3FE5-48E5-9D9A-7FF1B7166577}" destId="{4EE270E5-79EC-4347-B805-85F1D00AC974}" srcOrd="0" destOrd="4" presId="urn:microsoft.com/office/officeart/2005/8/layout/default"/>
    <dgm:cxn modelId="{74963D93-D1F3-45FC-93B5-8A56DDF47C9F}" type="presOf" srcId="{FE861FF8-A5F4-419A-8D5B-8DBBB42E2BF0}" destId="{4EE270E5-79EC-4347-B805-85F1D00AC974}" srcOrd="0" destOrd="0" presId="urn:microsoft.com/office/officeart/2005/8/layout/default"/>
    <dgm:cxn modelId="{0821A0C5-D5D4-48BC-8FA4-672C71868BD5}" srcId="{FE861FF8-A5F4-419A-8D5B-8DBBB42E2BF0}" destId="{D60F27B6-1DDC-49A6-810F-BBDD3438CC5A}" srcOrd="4" destOrd="0" parTransId="{BD2D2A42-A053-4774-A953-59D79A38E3E3}" sibTransId="{B79B8F5D-FECD-45C2-B9E0-AB2F03077CE9}"/>
    <dgm:cxn modelId="{DC4761C7-CD4A-44A7-9383-81921D04CE34}" srcId="{7217623A-2C14-48A3-9AE0-10CDFB55DE26}" destId="{FE861FF8-A5F4-419A-8D5B-8DBBB42E2BF0}" srcOrd="0" destOrd="0" parTransId="{E9C0FEC0-A215-469C-BA8C-0989761C4354}" sibTransId="{77EA9D43-C396-4496-B73D-63A052FDE8C3}"/>
    <dgm:cxn modelId="{86A316E3-B421-4727-AFC4-BC589D9AF695}" type="presOf" srcId="{3D33E7BA-DB06-47D3-A947-3B2D168A45D6}" destId="{4EE270E5-79EC-4347-B805-85F1D00AC974}" srcOrd="0" destOrd="3" presId="urn:microsoft.com/office/officeart/2005/8/layout/default"/>
    <dgm:cxn modelId="{49E22FF9-E193-4849-ACA8-2C7E43860084}" type="presOf" srcId="{D60F27B6-1DDC-49A6-810F-BBDD3438CC5A}" destId="{4EE270E5-79EC-4347-B805-85F1D00AC974}" srcOrd="0" destOrd="5" presId="urn:microsoft.com/office/officeart/2005/8/layout/default"/>
    <dgm:cxn modelId="{6801FD59-89F2-4512-B039-2F7F476A2566}" type="presParOf" srcId="{41053EC1-0528-4915-8AB5-FB5CFE9E5C51}" destId="{4EE270E5-79EC-4347-B805-85F1D00AC974}"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C65700-F0D0-4361-95DA-8694E5342B50}" type="doc">
      <dgm:prSet loTypeId="urn:microsoft.com/office/officeart/2018/2/layout/IconVerticalSolidList" loCatId="icon" qsTypeId="urn:microsoft.com/office/officeart/2005/8/quickstyle/simple1#4" qsCatId="simple" csTypeId="urn:microsoft.com/office/officeart/2005/8/colors/accent1_2#3" csCatId="accent1" phldr="1"/>
      <dgm:spPr/>
      <dgm:t>
        <a:bodyPr/>
        <a:lstStyle/>
        <a:p>
          <a:endParaRPr lang="en-US"/>
        </a:p>
      </dgm:t>
    </dgm:pt>
    <dgm:pt modelId="{80559A2A-6FA7-48A2-9DA0-F755A810B011}">
      <dgm:prSet/>
      <dgm:spPr/>
      <dgm:t>
        <a:bodyPr/>
        <a:lstStyle/>
        <a:p>
          <a:r>
            <a:rPr lang="en-US" b="1"/>
            <a:t>Example:</a:t>
          </a:r>
          <a:endParaRPr lang="en-US"/>
        </a:p>
      </dgm:t>
    </dgm:pt>
    <dgm:pt modelId="{2D651C34-9633-4639-AF97-9FB2E08C5349}" type="parTrans" cxnId="{8CFFD66A-68F9-4800-96B1-C1EBC9D4D3E1}">
      <dgm:prSet/>
      <dgm:spPr/>
      <dgm:t>
        <a:bodyPr/>
        <a:lstStyle/>
        <a:p>
          <a:endParaRPr lang="en-US"/>
        </a:p>
      </dgm:t>
    </dgm:pt>
    <dgm:pt modelId="{D081D5AA-A990-45AA-9B54-3729570BB8FF}" type="sibTrans" cxnId="{8CFFD66A-68F9-4800-96B1-C1EBC9D4D3E1}">
      <dgm:prSet/>
      <dgm:spPr/>
      <dgm:t>
        <a:bodyPr/>
        <a:lstStyle/>
        <a:p>
          <a:endParaRPr lang="en-US"/>
        </a:p>
      </dgm:t>
    </dgm:pt>
    <dgm:pt modelId="{E04AFBC2-2B1A-4E41-AB51-E4662D05BD20}">
      <dgm:prSet/>
      <dgm:spPr/>
      <dgm:t>
        <a:bodyPr/>
        <a:lstStyle/>
        <a:p>
          <a:r>
            <a:rPr lang="en-US" b="1"/>
            <a:t>Current Emissions:</a:t>
          </a:r>
          <a:br>
            <a:rPr lang="en-US"/>
          </a:br>
          <a:r>
            <a:rPr lang="en-US"/>
            <a:t>100,000 tCO₂e</a:t>
          </a:r>
        </a:p>
      </dgm:t>
    </dgm:pt>
    <dgm:pt modelId="{E532BF35-CBB9-4581-8C6D-1008555230A9}" type="parTrans" cxnId="{ED748480-61D9-4632-B065-79BB456E73D4}">
      <dgm:prSet/>
      <dgm:spPr/>
      <dgm:t>
        <a:bodyPr/>
        <a:lstStyle/>
        <a:p>
          <a:endParaRPr lang="en-US"/>
        </a:p>
      </dgm:t>
    </dgm:pt>
    <dgm:pt modelId="{CD6F2B41-7480-454C-B958-16778DC48ADE}" type="sibTrans" cxnId="{ED748480-61D9-4632-B065-79BB456E73D4}">
      <dgm:prSet/>
      <dgm:spPr/>
      <dgm:t>
        <a:bodyPr/>
        <a:lstStyle/>
        <a:p>
          <a:endParaRPr lang="en-US"/>
        </a:p>
      </dgm:t>
    </dgm:pt>
    <dgm:pt modelId="{FEA1F522-F845-40BF-8B99-3E3D7DDA5A0C}">
      <dgm:prSet/>
      <dgm:spPr/>
      <dgm:t>
        <a:bodyPr/>
        <a:lstStyle/>
        <a:p>
          <a:r>
            <a:rPr lang="en-US" b="1"/>
            <a:t>Forecast:</a:t>
          </a:r>
          <a:br>
            <a:rPr lang="en-US"/>
          </a:br>
          <a:r>
            <a:rPr lang="en-US"/>
            <a:t>115,000 tCO₂e</a:t>
          </a:r>
        </a:p>
      </dgm:t>
    </dgm:pt>
    <dgm:pt modelId="{B9E5610D-6294-47C3-B800-FD667F07381A}" type="parTrans" cxnId="{73BF58C9-9DA4-4052-998E-ECD2C1BE55E8}">
      <dgm:prSet/>
      <dgm:spPr/>
      <dgm:t>
        <a:bodyPr/>
        <a:lstStyle/>
        <a:p>
          <a:endParaRPr lang="en-US"/>
        </a:p>
      </dgm:t>
    </dgm:pt>
    <dgm:pt modelId="{AD98A8C0-16B2-47B8-9F8E-035965A48BDB}" type="sibTrans" cxnId="{73BF58C9-9DA4-4052-998E-ECD2C1BE55E8}">
      <dgm:prSet/>
      <dgm:spPr/>
      <dgm:t>
        <a:bodyPr/>
        <a:lstStyle/>
        <a:p>
          <a:endParaRPr lang="en-US"/>
        </a:p>
      </dgm:t>
    </dgm:pt>
    <dgm:pt modelId="{AA5EF736-3AAE-4B64-BE9A-674B04A4D251}">
      <dgm:prSet/>
      <dgm:spPr/>
      <dgm:t>
        <a:bodyPr/>
        <a:lstStyle/>
        <a:p>
          <a:r>
            <a:rPr lang="en-US" b="1"/>
            <a:t>Potential Reduction:</a:t>
          </a:r>
          <a:br>
            <a:rPr lang="en-US"/>
          </a:br>
          <a:r>
            <a:rPr lang="en-US"/>
            <a:t>15–20%</a:t>
          </a:r>
        </a:p>
      </dgm:t>
    </dgm:pt>
    <dgm:pt modelId="{DC794E06-D28E-4A95-A9DA-32B213F419EC}" type="parTrans" cxnId="{A38AACFF-7BDB-4DD6-B4D1-304353A7AD85}">
      <dgm:prSet/>
      <dgm:spPr/>
      <dgm:t>
        <a:bodyPr/>
        <a:lstStyle/>
        <a:p>
          <a:endParaRPr lang="en-US"/>
        </a:p>
      </dgm:t>
    </dgm:pt>
    <dgm:pt modelId="{4FADECAC-FB4C-4E7E-9A79-BE41B91BC07B}" type="sibTrans" cxnId="{A38AACFF-7BDB-4DD6-B4D1-304353A7AD85}">
      <dgm:prSet/>
      <dgm:spPr/>
      <dgm:t>
        <a:bodyPr/>
        <a:lstStyle/>
        <a:p>
          <a:endParaRPr lang="en-US"/>
        </a:p>
      </dgm:t>
    </dgm:pt>
    <dgm:pt modelId="{82B465A3-D609-4D97-AFEA-A987202A4B17}">
      <dgm:prSet/>
      <dgm:spPr/>
      <dgm:t>
        <a:bodyPr/>
        <a:lstStyle/>
        <a:p>
          <a:r>
            <a:rPr lang="en-US" b="1"/>
            <a:t>Recommendation:</a:t>
          </a:r>
          <a:br>
            <a:rPr lang="en-US"/>
          </a:br>
          <a:r>
            <a:rPr lang="en-US"/>
            <a:t>Invest in energy efficiency &amp; renewable energy</a:t>
          </a:r>
        </a:p>
      </dgm:t>
    </dgm:pt>
    <dgm:pt modelId="{F6BF6C03-8C6E-430F-B964-96931031B38B}" type="parTrans" cxnId="{90AB31C8-F4E9-4BA8-850F-8EA76B695EF6}">
      <dgm:prSet/>
      <dgm:spPr/>
      <dgm:t>
        <a:bodyPr/>
        <a:lstStyle/>
        <a:p>
          <a:endParaRPr lang="en-US"/>
        </a:p>
      </dgm:t>
    </dgm:pt>
    <dgm:pt modelId="{EFD4194E-47ED-40B3-8457-4E0CE29F3DF8}" type="sibTrans" cxnId="{90AB31C8-F4E9-4BA8-850F-8EA76B695EF6}">
      <dgm:prSet/>
      <dgm:spPr/>
      <dgm:t>
        <a:bodyPr/>
        <a:lstStyle/>
        <a:p>
          <a:endParaRPr lang="en-US"/>
        </a:p>
      </dgm:t>
    </dgm:pt>
    <dgm:pt modelId="{3CCB7A8D-DF3A-4352-A796-1CD602395A7D}" type="pres">
      <dgm:prSet presAssocID="{19C65700-F0D0-4361-95DA-8694E5342B50}" presName="root" presStyleCnt="0">
        <dgm:presLayoutVars>
          <dgm:dir/>
          <dgm:resizeHandles val="exact"/>
        </dgm:presLayoutVars>
      </dgm:prSet>
      <dgm:spPr/>
    </dgm:pt>
    <dgm:pt modelId="{1F4EF73D-A7BA-4313-8763-D933B0D2E46F}" type="pres">
      <dgm:prSet presAssocID="{80559A2A-6FA7-48A2-9DA0-F755A810B011}" presName="compNode" presStyleCnt="0"/>
      <dgm:spPr/>
    </dgm:pt>
    <dgm:pt modelId="{DFC1CA38-7317-431A-BF01-67A94432BE93}" type="pres">
      <dgm:prSet presAssocID="{80559A2A-6FA7-48A2-9DA0-F755A810B011}" presName="bgRect" presStyleLbl="bgShp" presStyleIdx="0" presStyleCnt="5"/>
      <dgm:spPr/>
    </dgm:pt>
    <dgm:pt modelId="{6C63BD9C-A7C0-4E48-864C-0C17E2E4AB56}" type="pres">
      <dgm:prSet presAssocID="{80559A2A-6FA7-48A2-9DA0-F755A810B01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64E88AB8-F4D0-4FAB-A0C2-407C2EEFA103}" type="pres">
      <dgm:prSet presAssocID="{80559A2A-6FA7-48A2-9DA0-F755A810B011}" presName="spaceRect" presStyleCnt="0"/>
      <dgm:spPr/>
    </dgm:pt>
    <dgm:pt modelId="{78963C6E-8E52-4D88-BAC6-6C000DCA6233}" type="pres">
      <dgm:prSet presAssocID="{80559A2A-6FA7-48A2-9DA0-F755A810B011}" presName="parTx" presStyleLbl="revTx" presStyleIdx="0" presStyleCnt="5">
        <dgm:presLayoutVars>
          <dgm:chMax val="0"/>
          <dgm:chPref val="0"/>
        </dgm:presLayoutVars>
      </dgm:prSet>
      <dgm:spPr/>
    </dgm:pt>
    <dgm:pt modelId="{EA296DE2-4797-45A7-A133-36DEE05C2F5D}" type="pres">
      <dgm:prSet presAssocID="{D081D5AA-A990-45AA-9B54-3729570BB8FF}" presName="sibTrans" presStyleCnt="0"/>
      <dgm:spPr/>
    </dgm:pt>
    <dgm:pt modelId="{1E8321D2-8E75-48AB-97DB-6A1E6725AAA1}" type="pres">
      <dgm:prSet presAssocID="{E04AFBC2-2B1A-4E41-AB51-E4662D05BD20}" presName="compNode" presStyleCnt="0"/>
      <dgm:spPr/>
    </dgm:pt>
    <dgm:pt modelId="{55C62BEF-4C71-48F2-AAF7-B42C994FC147}" type="pres">
      <dgm:prSet presAssocID="{E04AFBC2-2B1A-4E41-AB51-E4662D05BD20}" presName="bgRect" presStyleLbl="bgShp" presStyleIdx="1" presStyleCnt="5"/>
      <dgm:spPr/>
    </dgm:pt>
    <dgm:pt modelId="{A1C7AFA6-B441-4EE0-ABC6-166A9DCFD3D0}" type="pres">
      <dgm:prSet presAssocID="{E04AFBC2-2B1A-4E41-AB51-E4662D05BD20}"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690B5D7D-1A22-4EB4-8C16-8CF3EABEB798}" type="pres">
      <dgm:prSet presAssocID="{E04AFBC2-2B1A-4E41-AB51-E4662D05BD20}" presName="spaceRect" presStyleCnt="0"/>
      <dgm:spPr/>
    </dgm:pt>
    <dgm:pt modelId="{3152EB5A-A52E-4A6B-B565-4BA714033472}" type="pres">
      <dgm:prSet presAssocID="{E04AFBC2-2B1A-4E41-AB51-E4662D05BD20}" presName="parTx" presStyleLbl="revTx" presStyleIdx="1" presStyleCnt="5">
        <dgm:presLayoutVars>
          <dgm:chMax val="0"/>
          <dgm:chPref val="0"/>
        </dgm:presLayoutVars>
      </dgm:prSet>
      <dgm:spPr/>
    </dgm:pt>
    <dgm:pt modelId="{0E39C147-A9EA-4D8D-878E-9262C52C264F}" type="pres">
      <dgm:prSet presAssocID="{CD6F2B41-7480-454C-B958-16778DC48ADE}" presName="sibTrans" presStyleCnt="0"/>
      <dgm:spPr/>
    </dgm:pt>
    <dgm:pt modelId="{D3DBCBBC-5901-4F0C-A583-856A3E5FA92D}" type="pres">
      <dgm:prSet presAssocID="{FEA1F522-F845-40BF-8B99-3E3D7DDA5A0C}" presName="compNode" presStyleCnt="0"/>
      <dgm:spPr/>
    </dgm:pt>
    <dgm:pt modelId="{4A2DDB3F-F07A-46E5-B5A3-E573969611F9}" type="pres">
      <dgm:prSet presAssocID="{FEA1F522-F845-40BF-8B99-3E3D7DDA5A0C}" presName="bgRect" presStyleLbl="bgShp" presStyleIdx="2" presStyleCnt="5"/>
      <dgm:spPr/>
    </dgm:pt>
    <dgm:pt modelId="{8D9608D8-BB5A-4B2C-8F2E-E0E3F9D58C61}" type="pres">
      <dgm:prSet presAssocID="{FEA1F522-F845-40BF-8B99-3E3D7DDA5A0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pward trend"/>
        </a:ext>
      </dgm:extLst>
    </dgm:pt>
    <dgm:pt modelId="{C488CF11-0DBA-453E-B5F6-A85B774AE1E4}" type="pres">
      <dgm:prSet presAssocID="{FEA1F522-F845-40BF-8B99-3E3D7DDA5A0C}" presName="spaceRect" presStyleCnt="0"/>
      <dgm:spPr/>
    </dgm:pt>
    <dgm:pt modelId="{D322CEBE-F651-4666-97E4-941D8CA6C57F}" type="pres">
      <dgm:prSet presAssocID="{FEA1F522-F845-40BF-8B99-3E3D7DDA5A0C}" presName="parTx" presStyleLbl="revTx" presStyleIdx="2" presStyleCnt="5">
        <dgm:presLayoutVars>
          <dgm:chMax val="0"/>
          <dgm:chPref val="0"/>
        </dgm:presLayoutVars>
      </dgm:prSet>
      <dgm:spPr/>
    </dgm:pt>
    <dgm:pt modelId="{4D631322-CFB3-4158-8364-4FF393532AD6}" type="pres">
      <dgm:prSet presAssocID="{AD98A8C0-16B2-47B8-9F8E-035965A48BDB}" presName="sibTrans" presStyleCnt="0"/>
      <dgm:spPr/>
    </dgm:pt>
    <dgm:pt modelId="{8F2F6B48-E1AE-484A-ACDD-57D1C9B2CCC9}" type="pres">
      <dgm:prSet presAssocID="{AA5EF736-3AAE-4B64-BE9A-674B04A4D251}" presName="compNode" presStyleCnt="0"/>
      <dgm:spPr/>
    </dgm:pt>
    <dgm:pt modelId="{187BBF36-666B-4865-8010-493F14A91639}" type="pres">
      <dgm:prSet presAssocID="{AA5EF736-3AAE-4B64-BE9A-674B04A4D251}" presName="bgRect" presStyleLbl="bgShp" presStyleIdx="3" presStyleCnt="5"/>
      <dgm:spPr/>
    </dgm:pt>
    <dgm:pt modelId="{CAEAE3B7-D33D-4231-8D96-B4FEE9488B6C}" type="pres">
      <dgm:prSet presAssocID="{AA5EF736-3AAE-4B64-BE9A-674B04A4D251}"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nimize"/>
        </a:ext>
      </dgm:extLst>
    </dgm:pt>
    <dgm:pt modelId="{DBD47B77-C094-4717-8E42-02AED37E87B5}" type="pres">
      <dgm:prSet presAssocID="{AA5EF736-3AAE-4B64-BE9A-674B04A4D251}" presName="spaceRect" presStyleCnt="0"/>
      <dgm:spPr/>
    </dgm:pt>
    <dgm:pt modelId="{4998EF49-29E0-47E6-9C29-07A01D13A31A}" type="pres">
      <dgm:prSet presAssocID="{AA5EF736-3AAE-4B64-BE9A-674B04A4D251}" presName="parTx" presStyleLbl="revTx" presStyleIdx="3" presStyleCnt="5">
        <dgm:presLayoutVars>
          <dgm:chMax val="0"/>
          <dgm:chPref val="0"/>
        </dgm:presLayoutVars>
      </dgm:prSet>
      <dgm:spPr/>
    </dgm:pt>
    <dgm:pt modelId="{0F98F6D2-3E9B-46A8-A630-C9A30AE21E13}" type="pres">
      <dgm:prSet presAssocID="{4FADECAC-FB4C-4E7E-9A79-BE41B91BC07B}" presName="sibTrans" presStyleCnt="0"/>
      <dgm:spPr/>
    </dgm:pt>
    <dgm:pt modelId="{8F9C489D-785C-48EA-B565-AB52CEC969EE}" type="pres">
      <dgm:prSet presAssocID="{82B465A3-D609-4D97-AFEA-A987202A4B17}" presName="compNode" presStyleCnt="0"/>
      <dgm:spPr/>
    </dgm:pt>
    <dgm:pt modelId="{B537A4D3-4531-4686-8122-72440D2A2106}" type="pres">
      <dgm:prSet presAssocID="{82B465A3-D609-4D97-AFEA-A987202A4B17}" presName="bgRect" presStyleLbl="bgShp" presStyleIdx="4" presStyleCnt="5"/>
      <dgm:spPr/>
    </dgm:pt>
    <dgm:pt modelId="{41844B61-CF4D-42F8-8432-A422AA8AABED}" type="pres">
      <dgm:prSet presAssocID="{82B465A3-D609-4D97-AFEA-A987202A4B1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un"/>
        </a:ext>
      </dgm:extLst>
    </dgm:pt>
    <dgm:pt modelId="{1D2415B2-0569-423C-A58B-81DAA6D996F5}" type="pres">
      <dgm:prSet presAssocID="{82B465A3-D609-4D97-AFEA-A987202A4B17}" presName="spaceRect" presStyleCnt="0"/>
      <dgm:spPr/>
    </dgm:pt>
    <dgm:pt modelId="{2F489518-8A2C-43BD-9DFD-255BEEEAAAAA}" type="pres">
      <dgm:prSet presAssocID="{82B465A3-D609-4D97-AFEA-A987202A4B17}" presName="parTx" presStyleLbl="revTx" presStyleIdx="4" presStyleCnt="5">
        <dgm:presLayoutVars>
          <dgm:chMax val="0"/>
          <dgm:chPref val="0"/>
        </dgm:presLayoutVars>
      </dgm:prSet>
      <dgm:spPr/>
    </dgm:pt>
  </dgm:ptLst>
  <dgm:cxnLst>
    <dgm:cxn modelId="{69E34202-1990-495A-A4CA-B318C7CFABCE}" type="presOf" srcId="{AA5EF736-3AAE-4B64-BE9A-674B04A4D251}" destId="{4998EF49-29E0-47E6-9C29-07A01D13A31A}" srcOrd="0" destOrd="0" presId="urn:microsoft.com/office/officeart/2018/2/layout/IconVerticalSolidList"/>
    <dgm:cxn modelId="{9143F708-D258-4674-BFDD-1CFB566235FD}" type="presOf" srcId="{FEA1F522-F845-40BF-8B99-3E3D7DDA5A0C}" destId="{D322CEBE-F651-4666-97E4-941D8CA6C57F}" srcOrd="0" destOrd="0" presId="urn:microsoft.com/office/officeart/2018/2/layout/IconVerticalSolidList"/>
    <dgm:cxn modelId="{62F55010-98C1-4D98-9524-3C2191ADD549}" type="presOf" srcId="{E04AFBC2-2B1A-4E41-AB51-E4662D05BD20}" destId="{3152EB5A-A52E-4A6B-B565-4BA714033472}" srcOrd="0" destOrd="0" presId="urn:microsoft.com/office/officeart/2018/2/layout/IconVerticalSolidList"/>
    <dgm:cxn modelId="{8A9B761A-5FF0-4F5A-9DFD-9AC21239DD2B}" type="presOf" srcId="{80559A2A-6FA7-48A2-9DA0-F755A810B011}" destId="{78963C6E-8E52-4D88-BAC6-6C000DCA6233}" srcOrd="0" destOrd="0" presId="urn:microsoft.com/office/officeart/2018/2/layout/IconVerticalSolidList"/>
    <dgm:cxn modelId="{8CFFD66A-68F9-4800-96B1-C1EBC9D4D3E1}" srcId="{19C65700-F0D0-4361-95DA-8694E5342B50}" destId="{80559A2A-6FA7-48A2-9DA0-F755A810B011}" srcOrd="0" destOrd="0" parTransId="{2D651C34-9633-4639-AF97-9FB2E08C5349}" sibTransId="{D081D5AA-A990-45AA-9B54-3729570BB8FF}"/>
    <dgm:cxn modelId="{71C9D172-B1A2-436A-B5AA-4CDF78DAE0A3}" type="presOf" srcId="{19C65700-F0D0-4361-95DA-8694E5342B50}" destId="{3CCB7A8D-DF3A-4352-A796-1CD602395A7D}" srcOrd="0" destOrd="0" presId="urn:microsoft.com/office/officeart/2018/2/layout/IconVerticalSolidList"/>
    <dgm:cxn modelId="{ED748480-61D9-4632-B065-79BB456E73D4}" srcId="{19C65700-F0D0-4361-95DA-8694E5342B50}" destId="{E04AFBC2-2B1A-4E41-AB51-E4662D05BD20}" srcOrd="1" destOrd="0" parTransId="{E532BF35-CBB9-4581-8C6D-1008555230A9}" sibTransId="{CD6F2B41-7480-454C-B958-16778DC48ADE}"/>
    <dgm:cxn modelId="{90AB31C8-F4E9-4BA8-850F-8EA76B695EF6}" srcId="{19C65700-F0D0-4361-95DA-8694E5342B50}" destId="{82B465A3-D609-4D97-AFEA-A987202A4B17}" srcOrd="4" destOrd="0" parTransId="{F6BF6C03-8C6E-430F-B964-96931031B38B}" sibTransId="{EFD4194E-47ED-40B3-8457-4E0CE29F3DF8}"/>
    <dgm:cxn modelId="{73BF58C9-9DA4-4052-998E-ECD2C1BE55E8}" srcId="{19C65700-F0D0-4361-95DA-8694E5342B50}" destId="{FEA1F522-F845-40BF-8B99-3E3D7DDA5A0C}" srcOrd="2" destOrd="0" parTransId="{B9E5610D-6294-47C3-B800-FD667F07381A}" sibTransId="{AD98A8C0-16B2-47B8-9F8E-035965A48BDB}"/>
    <dgm:cxn modelId="{9A1470FD-1770-4A3A-B2F4-E034E176DF78}" type="presOf" srcId="{82B465A3-D609-4D97-AFEA-A987202A4B17}" destId="{2F489518-8A2C-43BD-9DFD-255BEEEAAAAA}" srcOrd="0" destOrd="0" presId="urn:microsoft.com/office/officeart/2018/2/layout/IconVerticalSolidList"/>
    <dgm:cxn modelId="{A38AACFF-7BDB-4DD6-B4D1-304353A7AD85}" srcId="{19C65700-F0D0-4361-95DA-8694E5342B50}" destId="{AA5EF736-3AAE-4B64-BE9A-674B04A4D251}" srcOrd="3" destOrd="0" parTransId="{DC794E06-D28E-4A95-A9DA-32B213F419EC}" sibTransId="{4FADECAC-FB4C-4E7E-9A79-BE41B91BC07B}"/>
    <dgm:cxn modelId="{A3BCF459-157F-4F18-9698-2E2D37DBFA63}" type="presParOf" srcId="{3CCB7A8D-DF3A-4352-A796-1CD602395A7D}" destId="{1F4EF73D-A7BA-4313-8763-D933B0D2E46F}" srcOrd="0" destOrd="0" presId="urn:microsoft.com/office/officeart/2018/2/layout/IconVerticalSolidList"/>
    <dgm:cxn modelId="{0DB00CBD-44FE-414E-8BDB-65EF3B026DBE}" type="presParOf" srcId="{1F4EF73D-A7BA-4313-8763-D933B0D2E46F}" destId="{DFC1CA38-7317-431A-BF01-67A94432BE93}" srcOrd="0" destOrd="0" presId="urn:microsoft.com/office/officeart/2018/2/layout/IconVerticalSolidList"/>
    <dgm:cxn modelId="{21A74A11-BB76-4218-9807-128BD55A6498}" type="presParOf" srcId="{1F4EF73D-A7BA-4313-8763-D933B0D2E46F}" destId="{6C63BD9C-A7C0-4E48-864C-0C17E2E4AB56}" srcOrd="1" destOrd="0" presId="urn:microsoft.com/office/officeart/2018/2/layout/IconVerticalSolidList"/>
    <dgm:cxn modelId="{A0071EDE-8F32-4C84-BC4F-4F9A351166BC}" type="presParOf" srcId="{1F4EF73D-A7BA-4313-8763-D933B0D2E46F}" destId="{64E88AB8-F4D0-4FAB-A0C2-407C2EEFA103}" srcOrd="2" destOrd="0" presId="urn:microsoft.com/office/officeart/2018/2/layout/IconVerticalSolidList"/>
    <dgm:cxn modelId="{E73FBA91-BCEC-4F5E-8E3E-2235A9185CC4}" type="presParOf" srcId="{1F4EF73D-A7BA-4313-8763-D933B0D2E46F}" destId="{78963C6E-8E52-4D88-BAC6-6C000DCA6233}" srcOrd="3" destOrd="0" presId="urn:microsoft.com/office/officeart/2018/2/layout/IconVerticalSolidList"/>
    <dgm:cxn modelId="{84FACC01-98C6-43A8-8C63-8A764B5E6F91}" type="presParOf" srcId="{3CCB7A8D-DF3A-4352-A796-1CD602395A7D}" destId="{EA296DE2-4797-45A7-A133-36DEE05C2F5D}" srcOrd="1" destOrd="0" presId="urn:microsoft.com/office/officeart/2018/2/layout/IconVerticalSolidList"/>
    <dgm:cxn modelId="{3B53D738-3597-496E-992E-741B14950CFB}" type="presParOf" srcId="{3CCB7A8D-DF3A-4352-A796-1CD602395A7D}" destId="{1E8321D2-8E75-48AB-97DB-6A1E6725AAA1}" srcOrd="2" destOrd="0" presId="urn:microsoft.com/office/officeart/2018/2/layout/IconVerticalSolidList"/>
    <dgm:cxn modelId="{BB724650-905A-4CFF-A83D-65AA6C9BC707}" type="presParOf" srcId="{1E8321D2-8E75-48AB-97DB-6A1E6725AAA1}" destId="{55C62BEF-4C71-48F2-AAF7-B42C994FC147}" srcOrd="0" destOrd="0" presId="urn:microsoft.com/office/officeart/2018/2/layout/IconVerticalSolidList"/>
    <dgm:cxn modelId="{3D3B328F-C6B6-4B50-B524-B683C7A125B6}" type="presParOf" srcId="{1E8321D2-8E75-48AB-97DB-6A1E6725AAA1}" destId="{A1C7AFA6-B441-4EE0-ABC6-166A9DCFD3D0}" srcOrd="1" destOrd="0" presId="urn:microsoft.com/office/officeart/2018/2/layout/IconVerticalSolidList"/>
    <dgm:cxn modelId="{9A315CE5-EAAF-44CC-88B6-407DAF839073}" type="presParOf" srcId="{1E8321D2-8E75-48AB-97DB-6A1E6725AAA1}" destId="{690B5D7D-1A22-4EB4-8C16-8CF3EABEB798}" srcOrd="2" destOrd="0" presId="urn:microsoft.com/office/officeart/2018/2/layout/IconVerticalSolidList"/>
    <dgm:cxn modelId="{E274FCEC-8285-4161-B759-D8CA11B925D8}" type="presParOf" srcId="{1E8321D2-8E75-48AB-97DB-6A1E6725AAA1}" destId="{3152EB5A-A52E-4A6B-B565-4BA714033472}" srcOrd="3" destOrd="0" presId="urn:microsoft.com/office/officeart/2018/2/layout/IconVerticalSolidList"/>
    <dgm:cxn modelId="{9FDE5F42-2D49-4351-8D18-75A9838BAEA3}" type="presParOf" srcId="{3CCB7A8D-DF3A-4352-A796-1CD602395A7D}" destId="{0E39C147-A9EA-4D8D-878E-9262C52C264F}" srcOrd="3" destOrd="0" presId="urn:microsoft.com/office/officeart/2018/2/layout/IconVerticalSolidList"/>
    <dgm:cxn modelId="{25D6A7C6-133E-432D-92D6-3AAB29078790}" type="presParOf" srcId="{3CCB7A8D-DF3A-4352-A796-1CD602395A7D}" destId="{D3DBCBBC-5901-4F0C-A583-856A3E5FA92D}" srcOrd="4" destOrd="0" presId="urn:microsoft.com/office/officeart/2018/2/layout/IconVerticalSolidList"/>
    <dgm:cxn modelId="{AF73DD2A-F471-4B6E-B1E3-8A4ACF741DFC}" type="presParOf" srcId="{D3DBCBBC-5901-4F0C-A583-856A3E5FA92D}" destId="{4A2DDB3F-F07A-46E5-B5A3-E573969611F9}" srcOrd="0" destOrd="0" presId="urn:microsoft.com/office/officeart/2018/2/layout/IconVerticalSolidList"/>
    <dgm:cxn modelId="{26B8BE23-76DB-41DE-A0CB-4655FDE91F4C}" type="presParOf" srcId="{D3DBCBBC-5901-4F0C-A583-856A3E5FA92D}" destId="{8D9608D8-BB5A-4B2C-8F2E-E0E3F9D58C61}" srcOrd="1" destOrd="0" presId="urn:microsoft.com/office/officeart/2018/2/layout/IconVerticalSolidList"/>
    <dgm:cxn modelId="{8C82DAA0-8369-46ED-9CF2-A8679E960BB6}" type="presParOf" srcId="{D3DBCBBC-5901-4F0C-A583-856A3E5FA92D}" destId="{C488CF11-0DBA-453E-B5F6-A85B774AE1E4}" srcOrd="2" destOrd="0" presId="urn:microsoft.com/office/officeart/2018/2/layout/IconVerticalSolidList"/>
    <dgm:cxn modelId="{4924A65F-25CF-43F6-8176-E3678F3A72F0}" type="presParOf" srcId="{D3DBCBBC-5901-4F0C-A583-856A3E5FA92D}" destId="{D322CEBE-F651-4666-97E4-941D8CA6C57F}" srcOrd="3" destOrd="0" presId="urn:microsoft.com/office/officeart/2018/2/layout/IconVerticalSolidList"/>
    <dgm:cxn modelId="{ACD78F48-552E-48AA-982A-6E2C5CBA413E}" type="presParOf" srcId="{3CCB7A8D-DF3A-4352-A796-1CD602395A7D}" destId="{4D631322-CFB3-4158-8364-4FF393532AD6}" srcOrd="5" destOrd="0" presId="urn:microsoft.com/office/officeart/2018/2/layout/IconVerticalSolidList"/>
    <dgm:cxn modelId="{F616E502-92FD-489D-AFF9-C9D614A4DE27}" type="presParOf" srcId="{3CCB7A8D-DF3A-4352-A796-1CD602395A7D}" destId="{8F2F6B48-E1AE-484A-ACDD-57D1C9B2CCC9}" srcOrd="6" destOrd="0" presId="urn:microsoft.com/office/officeart/2018/2/layout/IconVerticalSolidList"/>
    <dgm:cxn modelId="{65D3E9F0-0917-4C0E-AD15-C741EDBF348D}" type="presParOf" srcId="{8F2F6B48-E1AE-484A-ACDD-57D1C9B2CCC9}" destId="{187BBF36-666B-4865-8010-493F14A91639}" srcOrd="0" destOrd="0" presId="urn:microsoft.com/office/officeart/2018/2/layout/IconVerticalSolidList"/>
    <dgm:cxn modelId="{12D2E3A5-A466-434B-9012-96B6E166B697}" type="presParOf" srcId="{8F2F6B48-E1AE-484A-ACDD-57D1C9B2CCC9}" destId="{CAEAE3B7-D33D-4231-8D96-B4FEE9488B6C}" srcOrd="1" destOrd="0" presId="urn:microsoft.com/office/officeart/2018/2/layout/IconVerticalSolidList"/>
    <dgm:cxn modelId="{D9EA2F64-7D10-4AEB-B402-5ABDF7BF0B70}" type="presParOf" srcId="{8F2F6B48-E1AE-484A-ACDD-57D1C9B2CCC9}" destId="{DBD47B77-C094-4717-8E42-02AED37E87B5}" srcOrd="2" destOrd="0" presId="urn:microsoft.com/office/officeart/2018/2/layout/IconVerticalSolidList"/>
    <dgm:cxn modelId="{21A2AF50-A804-430B-85B1-1344167C71BD}" type="presParOf" srcId="{8F2F6B48-E1AE-484A-ACDD-57D1C9B2CCC9}" destId="{4998EF49-29E0-47E6-9C29-07A01D13A31A}" srcOrd="3" destOrd="0" presId="urn:microsoft.com/office/officeart/2018/2/layout/IconVerticalSolidList"/>
    <dgm:cxn modelId="{2D85AB42-ACE6-48D1-A437-A9F78F05E492}" type="presParOf" srcId="{3CCB7A8D-DF3A-4352-A796-1CD602395A7D}" destId="{0F98F6D2-3E9B-46A8-A630-C9A30AE21E13}" srcOrd="7" destOrd="0" presId="urn:microsoft.com/office/officeart/2018/2/layout/IconVerticalSolidList"/>
    <dgm:cxn modelId="{DCC08B23-0C54-44E5-A633-80243F06403A}" type="presParOf" srcId="{3CCB7A8D-DF3A-4352-A796-1CD602395A7D}" destId="{8F9C489D-785C-48EA-B565-AB52CEC969EE}" srcOrd="8" destOrd="0" presId="urn:microsoft.com/office/officeart/2018/2/layout/IconVerticalSolidList"/>
    <dgm:cxn modelId="{C84B7A0B-B92D-470E-A5EE-D48E45202AE1}" type="presParOf" srcId="{8F9C489D-785C-48EA-B565-AB52CEC969EE}" destId="{B537A4D3-4531-4686-8122-72440D2A2106}" srcOrd="0" destOrd="0" presId="urn:microsoft.com/office/officeart/2018/2/layout/IconVerticalSolidList"/>
    <dgm:cxn modelId="{F2041483-0369-4775-B189-455D45A80C90}" type="presParOf" srcId="{8F9C489D-785C-48EA-B565-AB52CEC969EE}" destId="{41844B61-CF4D-42F8-8432-A422AA8AABED}" srcOrd="1" destOrd="0" presId="urn:microsoft.com/office/officeart/2018/2/layout/IconVerticalSolidList"/>
    <dgm:cxn modelId="{01168455-2F95-4949-97E6-E224F1E8B732}" type="presParOf" srcId="{8F9C489D-785C-48EA-B565-AB52CEC969EE}" destId="{1D2415B2-0569-423C-A58B-81DAA6D996F5}" srcOrd="2" destOrd="0" presId="urn:microsoft.com/office/officeart/2018/2/layout/IconVerticalSolidList"/>
    <dgm:cxn modelId="{FBD79541-FCDE-4286-A747-50726E1EBB37}" type="presParOf" srcId="{8F9C489D-785C-48EA-B565-AB52CEC969EE}" destId="{2F489518-8A2C-43BD-9DFD-255BEEEAAA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EF3F56-E054-4BCA-B156-2DF850A5E8E4}" type="doc">
      <dgm:prSet loTypeId="urn:microsoft.com/office/officeart/2018/2/layout/IconCircleList" loCatId="icon" qsTypeId="urn:microsoft.com/office/officeart/2005/8/quickstyle/simple1#11" qsCatId="simple" csTypeId="urn:microsoft.com/office/officeart/2005/8/colors/accent2_2#7" csCatId="accent2" phldr="1"/>
      <dgm:spPr/>
      <dgm:t>
        <a:bodyPr/>
        <a:lstStyle/>
        <a:p>
          <a:endParaRPr lang="en-US"/>
        </a:p>
      </dgm:t>
    </dgm:pt>
    <dgm:pt modelId="{4D2F1CDB-EB90-4422-A348-0770E92E2332}">
      <dgm:prSet/>
      <dgm:spPr/>
      <dgm:t>
        <a:bodyPr/>
        <a:lstStyle/>
        <a:p>
          <a:r>
            <a:rPr lang="en-US"/>
            <a:t>MySql:</a:t>
          </a:r>
        </a:p>
      </dgm:t>
    </dgm:pt>
    <dgm:pt modelId="{CD6CD85C-567C-4344-9D8B-DBC30E9EA654}" type="parTrans" cxnId="{55E092EC-1B80-4F6D-A3DB-E5E3BD7C0DF3}">
      <dgm:prSet/>
      <dgm:spPr/>
      <dgm:t>
        <a:bodyPr/>
        <a:lstStyle/>
        <a:p>
          <a:endParaRPr lang="en-US"/>
        </a:p>
      </dgm:t>
    </dgm:pt>
    <dgm:pt modelId="{FAEE37E1-C8E7-4DBF-A13E-F0FF1A82972C}" type="sibTrans" cxnId="{55E092EC-1B80-4F6D-A3DB-E5E3BD7C0DF3}">
      <dgm:prSet/>
      <dgm:spPr/>
      <dgm:t>
        <a:bodyPr/>
        <a:lstStyle/>
        <a:p>
          <a:endParaRPr lang="en-US"/>
        </a:p>
      </dgm:t>
    </dgm:pt>
    <dgm:pt modelId="{DA994001-1906-4FDB-B73C-C7FB82E0E69A}">
      <dgm:prSet/>
      <dgm:spPr/>
      <dgm:t>
        <a:bodyPr/>
        <a:lstStyle/>
        <a:p>
          <a:r>
            <a:rPr lang="en-US"/>
            <a:t>(Database → Relationships → Queries → Emissions Analysis)</a:t>
          </a:r>
        </a:p>
      </dgm:t>
    </dgm:pt>
    <dgm:pt modelId="{799295C3-A29A-48EF-A4DD-87F10D04B499}" type="parTrans" cxnId="{A1644322-A8DD-414F-98BC-581699B482D3}">
      <dgm:prSet/>
      <dgm:spPr/>
      <dgm:t>
        <a:bodyPr/>
        <a:lstStyle/>
        <a:p>
          <a:endParaRPr lang="en-US"/>
        </a:p>
      </dgm:t>
    </dgm:pt>
    <dgm:pt modelId="{7A7FCC41-2100-4134-A003-8417EA325CA2}" type="sibTrans" cxnId="{A1644322-A8DD-414F-98BC-581699B482D3}">
      <dgm:prSet/>
      <dgm:spPr/>
      <dgm:t>
        <a:bodyPr/>
        <a:lstStyle/>
        <a:p>
          <a:endParaRPr lang="en-US"/>
        </a:p>
      </dgm:t>
    </dgm:pt>
    <dgm:pt modelId="{48DF9139-8FC3-4157-82B4-237AD99FAB49}">
      <dgm:prSet/>
      <dgm:spPr/>
      <dgm:t>
        <a:bodyPr/>
        <a:lstStyle/>
        <a:p>
          <a:r>
            <a:rPr lang="en-US"/>
            <a:t>Power BI:</a:t>
          </a:r>
        </a:p>
      </dgm:t>
    </dgm:pt>
    <dgm:pt modelId="{45AE7EB3-E09C-4C1C-9EA4-92A8319D7C01}" type="parTrans" cxnId="{919562F0-5A4C-46D6-8AA9-8A1BABB13413}">
      <dgm:prSet/>
      <dgm:spPr/>
      <dgm:t>
        <a:bodyPr/>
        <a:lstStyle/>
        <a:p>
          <a:endParaRPr lang="en-US"/>
        </a:p>
      </dgm:t>
    </dgm:pt>
    <dgm:pt modelId="{FEE87148-33B5-41BB-884B-CC4105076DDE}" type="sibTrans" cxnId="{919562F0-5A4C-46D6-8AA9-8A1BABB13413}">
      <dgm:prSet/>
      <dgm:spPr/>
      <dgm:t>
        <a:bodyPr/>
        <a:lstStyle/>
        <a:p>
          <a:endParaRPr lang="en-US"/>
        </a:p>
      </dgm:t>
    </dgm:pt>
    <dgm:pt modelId="{064D0864-B033-4EA9-8683-6C058255DD1F}">
      <dgm:prSet/>
      <dgm:spPr/>
      <dgm:t>
        <a:bodyPr/>
        <a:lstStyle/>
        <a:p>
          <a:r>
            <a:rPr lang="en-US"/>
            <a:t>(Data Visualization)     </a:t>
          </a:r>
        </a:p>
      </dgm:t>
    </dgm:pt>
    <dgm:pt modelId="{FDB3F00B-F19C-452F-B681-D382906B6F76}" type="parTrans" cxnId="{62A90273-C5CE-40BD-A0B1-315C4615C28E}">
      <dgm:prSet/>
      <dgm:spPr/>
      <dgm:t>
        <a:bodyPr/>
        <a:lstStyle/>
        <a:p>
          <a:endParaRPr lang="en-US"/>
        </a:p>
      </dgm:t>
    </dgm:pt>
    <dgm:pt modelId="{E26FD4FF-E9DF-4C25-973F-C29DE47AF35C}" type="sibTrans" cxnId="{62A90273-C5CE-40BD-A0B1-315C4615C28E}">
      <dgm:prSet/>
      <dgm:spPr/>
      <dgm:t>
        <a:bodyPr/>
        <a:lstStyle/>
        <a:p>
          <a:endParaRPr lang="en-US"/>
        </a:p>
      </dgm:t>
    </dgm:pt>
    <dgm:pt modelId="{114DAFEF-B452-4B03-B817-4229DD4A9E32}" type="pres">
      <dgm:prSet presAssocID="{3CEF3F56-E054-4BCA-B156-2DF850A5E8E4}" presName="root" presStyleCnt="0">
        <dgm:presLayoutVars>
          <dgm:dir/>
          <dgm:resizeHandles val="exact"/>
        </dgm:presLayoutVars>
      </dgm:prSet>
      <dgm:spPr/>
    </dgm:pt>
    <dgm:pt modelId="{8E747580-6592-4D28-8596-1122A6F56955}" type="pres">
      <dgm:prSet presAssocID="{3CEF3F56-E054-4BCA-B156-2DF850A5E8E4}" presName="container" presStyleCnt="0">
        <dgm:presLayoutVars>
          <dgm:dir/>
          <dgm:resizeHandles val="exact"/>
        </dgm:presLayoutVars>
      </dgm:prSet>
      <dgm:spPr/>
    </dgm:pt>
    <dgm:pt modelId="{67F2C28B-0D8D-477C-BD15-72FBECC595A7}" type="pres">
      <dgm:prSet presAssocID="{4D2F1CDB-EB90-4422-A348-0770E92E2332}" presName="compNode" presStyleCnt="0"/>
      <dgm:spPr/>
    </dgm:pt>
    <dgm:pt modelId="{C8B7648E-D911-4483-9196-2DE99D76F67E}" type="pres">
      <dgm:prSet presAssocID="{4D2F1CDB-EB90-4422-A348-0770E92E2332}" presName="iconBgRect" presStyleLbl="bgShp" presStyleIdx="0" presStyleCnt="4"/>
      <dgm:spPr/>
    </dgm:pt>
    <dgm:pt modelId="{157188B3-4DFD-48B7-9CF3-D7CBCE5EF56D}" type="pres">
      <dgm:prSet presAssocID="{4D2F1CDB-EB90-4422-A348-0770E92E233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E9336A7B-1238-43E3-B2F5-890815EF9062}" type="pres">
      <dgm:prSet presAssocID="{4D2F1CDB-EB90-4422-A348-0770E92E2332}" presName="spaceRect" presStyleCnt="0"/>
      <dgm:spPr/>
    </dgm:pt>
    <dgm:pt modelId="{F539E0B1-5328-4CF6-83A2-236843CC135A}" type="pres">
      <dgm:prSet presAssocID="{4D2F1CDB-EB90-4422-A348-0770E92E2332}" presName="textRect" presStyleLbl="revTx" presStyleIdx="0" presStyleCnt="4">
        <dgm:presLayoutVars>
          <dgm:chMax val="1"/>
          <dgm:chPref val="1"/>
        </dgm:presLayoutVars>
      </dgm:prSet>
      <dgm:spPr/>
    </dgm:pt>
    <dgm:pt modelId="{84B91835-86A0-42F6-82EB-382B4DB80573}" type="pres">
      <dgm:prSet presAssocID="{FAEE37E1-C8E7-4DBF-A13E-F0FF1A82972C}" presName="sibTrans" presStyleLbl="sibTrans2D1" presStyleIdx="0" presStyleCnt="0"/>
      <dgm:spPr/>
    </dgm:pt>
    <dgm:pt modelId="{BD8EE5F9-C7EA-4D52-BD6E-A5521C77BCC6}" type="pres">
      <dgm:prSet presAssocID="{DA994001-1906-4FDB-B73C-C7FB82E0E69A}" presName="compNode" presStyleCnt="0"/>
      <dgm:spPr/>
    </dgm:pt>
    <dgm:pt modelId="{85BC7350-C04A-415F-B569-48BDB88B1FCF}" type="pres">
      <dgm:prSet presAssocID="{DA994001-1906-4FDB-B73C-C7FB82E0E69A}" presName="iconBgRect" presStyleLbl="bgShp" presStyleIdx="1" presStyleCnt="4"/>
      <dgm:spPr/>
    </dgm:pt>
    <dgm:pt modelId="{F02D0E50-9500-4D35-956F-B50BE2CE2475}" type="pres">
      <dgm:prSet presAssocID="{DA994001-1906-4FDB-B73C-C7FB82E0E69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8BD5E3D9-82E4-48B2-811C-0563ACAED117}" type="pres">
      <dgm:prSet presAssocID="{DA994001-1906-4FDB-B73C-C7FB82E0E69A}" presName="spaceRect" presStyleCnt="0"/>
      <dgm:spPr/>
    </dgm:pt>
    <dgm:pt modelId="{0DBCF70B-356B-44DC-AC55-054DC671FFAD}" type="pres">
      <dgm:prSet presAssocID="{DA994001-1906-4FDB-B73C-C7FB82E0E69A}" presName="textRect" presStyleLbl="revTx" presStyleIdx="1" presStyleCnt="4">
        <dgm:presLayoutVars>
          <dgm:chMax val="1"/>
          <dgm:chPref val="1"/>
        </dgm:presLayoutVars>
      </dgm:prSet>
      <dgm:spPr/>
    </dgm:pt>
    <dgm:pt modelId="{D51DBBDE-CD3E-4D24-B6C5-88CC6A926623}" type="pres">
      <dgm:prSet presAssocID="{7A7FCC41-2100-4134-A003-8417EA325CA2}" presName="sibTrans" presStyleLbl="sibTrans2D1" presStyleIdx="0" presStyleCnt="0"/>
      <dgm:spPr/>
    </dgm:pt>
    <dgm:pt modelId="{DF1E5C33-4606-4379-9278-D957BD50577D}" type="pres">
      <dgm:prSet presAssocID="{48DF9139-8FC3-4157-82B4-237AD99FAB49}" presName="compNode" presStyleCnt="0"/>
      <dgm:spPr/>
    </dgm:pt>
    <dgm:pt modelId="{7723F248-0F2E-4B9A-93BD-CC3E763F5BA1}" type="pres">
      <dgm:prSet presAssocID="{48DF9139-8FC3-4157-82B4-237AD99FAB49}" presName="iconBgRect" presStyleLbl="bgShp" presStyleIdx="2" presStyleCnt="4"/>
      <dgm:spPr/>
    </dgm:pt>
    <dgm:pt modelId="{F7559F70-BCC0-484C-8E85-8919CFFA7A20}" type="pres">
      <dgm:prSet presAssocID="{48DF9139-8FC3-4157-82B4-237AD99FAB4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ingle gear"/>
        </a:ext>
      </dgm:extLst>
    </dgm:pt>
    <dgm:pt modelId="{05B6FE8B-73EF-48E8-9B2E-7BEF8391D110}" type="pres">
      <dgm:prSet presAssocID="{48DF9139-8FC3-4157-82B4-237AD99FAB49}" presName="spaceRect" presStyleCnt="0"/>
      <dgm:spPr/>
    </dgm:pt>
    <dgm:pt modelId="{08F20904-EA1B-469C-8AE7-55A4F82808DF}" type="pres">
      <dgm:prSet presAssocID="{48DF9139-8FC3-4157-82B4-237AD99FAB49}" presName="textRect" presStyleLbl="revTx" presStyleIdx="2" presStyleCnt="4">
        <dgm:presLayoutVars>
          <dgm:chMax val="1"/>
          <dgm:chPref val="1"/>
        </dgm:presLayoutVars>
      </dgm:prSet>
      <dgm:spPr/>
    </dgm:pt>
    <dgm:pt modelId="{19D122F4-F8E5-44F1-936A-BD34EFDAA4D5}" type="pres">
      <dgm:prSet presAssocID="{FEE87148-33B5-41BB-884B-CC4105076DDE}" presName="sibTrans" presStyleLbl="sibTrans2D1" presStyleIdx="0" presStyleCnt="0"/>
      <dgm:spPr/>
    </dgm:pt>
    <dgm:pt modelId="{FA8C39DE-0EDC-4CA7-9312-F2BE1E44B9B7}" type="pres">
      <dgm:prSet presAssocID="{064D0864-B033-4EA9-8683-6C058255DD1F}" presName="compNode" presStyleCnt="0"/>
      <dgm:spPr/>
    </dgm:pt>
    <dgm:pt modelId="{E873FBE8-D578-4301-BD9D-0CE46B1DDCD2}" type="pres">
      <dgm:prSet presAssocID="{064D0864-B033-4EA9-8683-6C058255DD1F}" presName="iconBgRect" presStyleLbl="bgShp" presStyleIdx="3" presStyleCnt="4"/>
      <dgm:spPr/>
    </dgm:pt>
    <dgm:pt modelId="{8A3B92E9-AAB1-4DD2-9D51-0EA5B85485CF}" type="pres">
      <dgm:prSet presAssocID="{064D0864-B033-4EA9-8683-6C058255DD1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8BF6533-14D5-4C91-9DA6-B3492C1BE545}" type="pres">
      <dgm:prSet presAssocID="{064D0864-B033-4EA9-8683-6C058255DD1F}" presName="spaceRect" presStyleCnt="0"/>
      <dgm:spPr/>
    </dgm:pt>
    <dgm:pt modelId="{0D393100-0EC7-449B-B15C-22DCCBC985B1}" type="pres">
      <dgm:prSet presAssocID="{064D0864-B033-4EA9-8683-6C058255DD1F}" presName="textRect" presStyleLbl="revTx" presStyleIdx="3" presStyleCnt="4">
        <dgm:presLayoutVars>
          <dgm:chMax val="1"/>
          <dgm:chPref val="1"/>
        </dgm:presLayoutVars>
      </dgm:prSet>
      <dgm:spPr/>
    </dgm:pt>
  </dgm:ptLst>
  <dgm:cxnLst>
    <dgm:cxn modelId="{44434F1E-DB24-4717-990C-2E7558B53F95}" type="presOf" srcId="{064D0864-B033-4EA9-8683-6C058255DD1F}" destId="{0D393100-0EC7-449B-B15C-22DCCBC985B1}" srcOrd="0" destOrd="0" presId="urn:microsoft.com/office/officeart/2018/2/layout/IconCircleList"/>
    <dgm:cxn modelId="{A1644322-A8DD-414F-98BC-581699B482D3}" srcId="{3CEF3F56-E054-4BCA-B156-2DF850A5E8E4}" destId="{DA994001-1906-4FDB-B73C-C7FB82E0E69A}" srcOrd="1" destOrd="0" parTransId="{799295C3-A29A-48EF-A4DD-87F10D04B499}" sibTransId="{7A7FCC41-2100-4134-A003-8417EA325CA2}"/>
    <dgm:cxn modelId="{62A90273-C5CE-40BD-A0B1-315C4615C28E}" srcId="{3CEF3F56-E054-4BCA-B156-2DF850A5E8E4}" destId="{064D0864-B033-4EA9-8683-6C058255DD1F}" srcOrd="3" destOrd="0" parTransId="{FDB3F00B-F19C-452F-B681-D382906B6F76}" sibTransId="{E26FD4FF-E9DF-4C25-973F-C29DE47AF35C}"/>
    <dgm:cxn modelId="{95ED1973-AD88-43C5-9E92-70F38D31BC20}" type="presOf" srcId="{3CEF3F56-E054-4BCA-B156-2DF850A5E8E4}" destId="{114DAFEF-B452-4B03-B817-4229DD4A9E32}" srcOrd="0" destOrd="0" presId="urn:microsoft.com/office/officeart/2018/2/layout/IconCircleList"/>
    <dgm:cxn modelId="{EC7DDA53-987C-4144-87DA-CC1EF110AA99}" type="presOf" srcId="{FEE87148-33B5-41BB-884B-CC4105076DDE}" destId="{19D122F4-F8E5-44F1-936A-BD34EFDAA4D5}" srcOrd="0" destOrd="0" presId="urn:microsoft.com/office/officeart/2018/2/layout/IconCircleList"/>
    <dgm:cxn modelId="{1AFAD679-1D39-4AFD-A778-62F4F6206DD3}" type="presOf" srcId="{4D2F1CDB-EB90-4422-A348-0770E92E2332}" destId="{F539E0B1-5328-4CF6-83A2-236843CC135A}" srcOrd="0" destOrd="0" presId="urn:microsoft.com/office/officeart/2018/2/layout/IconCircleList"/>
    <dgm:cxn modelId="{E6E91C99-605A-4EB1-9466-9C1BA6761090}" type="presOf" srcId="{FAEE37E1-C8E7-4DBF-A13E-F0FF1A82972C}" destId="{84B91835-86A0-42F6-82EB-382B4DB80573}" srcOrd="0" destOrd="0" presId="urn:microsoft.com/office/officeart/2018/2/layout/IconCircleList"/>
    <dgm:cxn modelId="{3A3079C3-7CDD-4F4F-B93A-6373401F9077}" type="presOf" srcId="{48DF9139-8FC3-4157-82B4-237AD99FAB49}" destId="{08F20904-EA1B-469C-8AE7-55A4F82808DF}" srcOrd="0" destOrd="0" presId="urn:microsoft.com/office/officeart/2018/2/layout/IconCircleList"/>
    <dgm:cxn modelId="{8A15AAD7-C9C0-4326-9FCF-2EAC39541824}" type="presOf" srcId="{DA994001-1906-4FDB-B73C-C7FB82E0E69A}" destId="{0DBCF70B-356B-44DC-AC55-054DC671FFAD}" srcOrd="0" destOrd="0" presId="urn:microsoft.com/office/officeart/2018/2/layout/IconCircleList"/>
    <dgm:cxn modelId="{55E092EC-1B80-4F6D-A3DB-E5E3BD7C0DF3}" srcId="{3CEF3F56-E054-4BCA-B156-2DF850A5E8E4}" destId="{4D2F1CDB-EB90-4422-A348-0770E92E2332}" srcOrd="0" destOrd="0" parTransId="{CD6CD85C-567C-4344-9D8B-DBC30E9EA654}" sibTransId="{FAEE37E1-C8E7-4DBF-A13E-F0FF1A82972C}"/>
    <dgm:cxn modelId="{919562F0-5A4C-46D6-8AA9-8A1BABB13413}" srcId="{3CEF3F56-E054-4BCA-B156-2DF850A5E8E4}" destId="{48DF9139-8FC3-4157-82B4-237AD99FAB49}" srcOrd="2" destOrd="0" parTransId="{45AE7EB3-E09C-4C1C-9EA4-92A8319D7C01}" sibTransId="{FEE87148-33B5-41BB-884B-CC4105076DDE}"/>
    <dgm:cxn modelId="{6F6A1AF4-62E7-41FA-AD80-A9C361D02FA9}" type="presOf" srcId="{7A7FCC41-2100-4134-A003-8417EA325CA2}" destId="{D51DBBDE-CD3E-4D24-B6C5-88CC6A926623}" srcOrd="0" destOrd="0" presId="urn:microsoft.com/office/officeart/2018/2/layout/IconCircleList"/>
    <dgm:cxn modelId="{75D1BD0D-F412-4EEA-BC5C-CAD7D5AA1534}" type="presParOf" srcId="{114DAFEF-B452-4B03-B817-4229DD4A9E32}" destId="{8E747580-6592-4D28-8596-1122A6F56955}" srcOrd="0" destOrd="0" presId="urn:microsoft.com/office/officeart/2018/2/layout/IconCircleList"/>
    <dgm:cxn modelId="{2B20B5E1-CDEC-4805-99E8-7DED28CC4BFC}" type="presParOf" srcId="{8E747580-6592-4D28-8596-1122A6F56955}" destId="{67F2C28B-0D8D-477C-BD15-72FBECC595A7}" srcOrd="0" destOrd="0" presId="urn:microsoft.com/office/officeart/2018/2/layout/IconCircleList"/>
    <dgm:cxn modelId="{65FC422D-AF45-4E98-A684-40709380DB0A}" type="presParOf" srcId="{67F2C28B-0D8D-477C-BD15-72FBECC595A7}" destId="{C8B7648E-D911-4483-9196-2DE99D76F67E}" srcOrd="0" destOrd="0" presId="urn:microsoft.com/office/officeart/2018/2/layout/IconCircleList"/>
    <dgm:cxn modelId="{593EA40C-DDA4-4D7D-9973-8AAE10FB1B3F}" type="presParOf" srcId="{67F2C28B-0D8D-477C-BD15-72FBECC595A7}" destId="{157188B3-4DFD-48B7-9CF3-D7CBCE5EF56D}" srcOrd="1" destOrd="0" presId="urn:microsoft.com/office/officeart/2018/2/layout/IconCircleList"/>
    <dgm:cxn modelId="{DFA19BF5-DA1D-4204-B228-B107565D8586}" type="presParOf" srcId="{67F2C28B-0D8D-477C-BD15-72FBECC595A7}" destId="{E9336A7B-1238-43E3-B2F5-890815EF9062}" srcOrd="2" destOrd="0" presId="urn:microsoft.com/office/officeart/2018/2/layout/IconCircleList"/>
    <dgm:cxn modelId="{CEA0DF68-1ADC-4937-A07D-D7C04B0F0B94}" type="presParOf" srcId="{67F2C28B-0D8D-477C-BD15-72FBECC595A7}" destId="{F539E0B1-5328-4CF6-83A2-236843CC135A}" srcOrd="3" destOrd="0" presId="urn:microsoft.com/office/officeart/2018/2/layout/IconCircleList"/>
    <dgm:cxn modelId="{1C22C638-0DBF-4D60-9BB0-6D287BAD1EFD}" type="presParOf" srcId="{8E747580-6592-4D28-8596-1122A6F56955}" destId="{84B91835-86A0-42F6-82EB-382B4DB80573}" srcOrd="1" destOrd="0" presId="urn:microsoft.com/office/officeart/2018/2/layout/IconCircleList"/>
    <dgm:cxn modelId="{FB1C26A5-022B-4BDC-9B48-D1526199F293}" type="presParOf" srcId="{8E747580-6592-4D28-8596-1122A6F56955}" destId="{BD8EE5F9-C7EA-4D52-BD6E-A5521C77BCC6}" srcOrd="2" destOrd="0" presId="urn:microsoft.com/office/officeart/2018/2/layout/IconCircleList"/>
    <dgm:cxn modelId="{1BA8B638-3A57-44B6-A786-D029D56EBA74}" type="presParOf" srcId="{BD8EE5F9-C7EA-4D52-BD6E-A5521C77BCC6}" destId="{85BC7350-C04A-415F-B569-48BDB88B1FCF}" srcOrd="0" destOrd="0" presId="urn:microsoft.com/office/officeart/2018/2/layout/IconCircleList"/>
    <dgm:cxn modelId="{50002526-23C6-47D0-8095-45DA5FD72A60}" type="presParOf" srcId="{BD8EE5F9-C7EA-4D52-BD6E-A5521C77BCC6}" destId="{F02D0E50-9500-4D35-956F-B50BE2CE2475}" srcOrd="1" destOrd="0" presId="urn:microsoft.com/office/officeart/2018/2/layout/IconCircleList"/>
    <dgm:cxn modelId="{B7897D70-7AE0-450D-80C8-1E4014C656FD}" type="presParOf" srcId="{BD8EE5F9-C7EA-4D52-BD6E-A5521C77BCC6}" destId="{8BD5E3D9-82E4-48B2-811C-0563ACAED117}" srcOrd="2" destOrd="0" presId="urn:microsoft.com/office/officeart/2018/2/layout/IconCircleList"/>
    <dgm:cxn modelId="{FDCC5315-7CE6-4359-806F-5BE87295178D}" type="presParOf" srcId="{BD8EE5F9-C7EA-4D52-BD6E-A5521C77BCC6}" destId="{0DBCF70B-356B-44DC-AC55-054DC671FFAD}" srcOrd="3" destOrd="0" presId="urn:microsoft.com/office/officeart/2018/2/layout/IconCircleList"/>
    <dgm:cxn modelId="{994F1EEC-A779-4A0C-9B52-33E60CDE49C5}" type="presParOf" srcId="{8E747580-6592-4D28-8596-1122A6F56955}" destId="{D51DBBDE-CD3E-4D24-B6C5-88CC6A926623}" srcOrd="3" destOrd="0" presId="urn:microsoft.com/office/officeart/2018/2/layout/IconCircleList"/>
    <dgm:cxn modelId="{73CD4F21-38EF-42CB-973A-A0248C2265C1}" type="presParOf" srcId="{8E747580-6592-4D28-8596-1122A6F56955}" destId="{DF1E5C33-4606-4379-9278-D957BD50577D}" srcOrd="4" destOrd="0" presId="urn:microsoft.com/office/officeart/2018/2/layout/IconCircleList"/>
    <dgm:cxn modelId="{5E4E5271-1ADC-4472-AA35-36EF2783E9E2}" type="presParOf" srcId="{DF1E5C33-4606-4379-9278-D957BD50577D}" destId="{7723F248-0F2E-4B9A-93BD-CC3E763F5BA1}" srcOrd="0" destOrd="0" presId="urn:microsoft.com/office/officeart/2018/2/layout/IconCircleList"/>
    <dgm:cxn modelId="{EE3FA5D1-8D38-4384-96DC-E0FAD9757948}" type="presParOf" srcId="{DF1E5C33-4606-4379-9278-D957BD50577D}" destId="{F7559F70-BCC0-484C-8E85-8919CFFA7A20}" srcOrd="1" destOrd="0" presId="urn:microsoft.com/office/officeart/2018/2/layout/IconCircleList"/>
    <dgm:cxn modelId="{E73C8751-868D-4990-8CA2-6DCFF4BC8D12}" type="presParOf" srcId="{DF1E5C33-4606-4379-9278-D957BD50577D}" destId="{05B6FE8B-73EF-48E8-9B2E-7BEF8391D110}" srcOrd="2" destOrd="0" presId="urn:microsoft.com/office/officeart/2018/2/layout/IconCircleList"/>
    <dgm:cxn modelId="{A7CE957E-4869-4163-B976-8A03E3BA9533}" type="presParOf" srcId="{DF1E5C33-4606-4379-9278-D957BD50577D}" destId="{08F20904-EA1B-469C-8AE7-55A4F82808DF}" srcOrd="3" destOrd="0" presId="urn:microsoft.com/office/officeart/2018/2/layout/IconCircleList"/>
    <dgm:cxn modelId="{63A1A029-5397-407D-B9B1-4EF81806ADCA}" type="presParOf" srcId="{8E747580-6592-4D28-8596-1122A6F56955}" destId="{19D122F4-F8E5-44F1-936A-BD34EFDAA4D5}" srcOrd="5" destOrd="0" presId="urn:microsoft.com/office/officeart/2018/2/layout/IconCircleList"/>
    <dgm:cxn modelId="{6B38E332-6038-4E47-A082-88BCAEA30CB1}" type="presParOf" srcId="{8E747580-6592-4D28-8596-1122A6F56955}" destId="{FA8C39DE-0EDC-4CA7-9312-F2BE1E44B9B7}" srcOrd="6" destOrd="0" presId="urn:microsoft.com/office/officeart/2018/2/layout/IconCircleList"/>
    <dgm:cxn modelId="{E9CFBEF0-8D3A-4223-B82F-77A703E77A01}" type="presParOf" srcId="{FA8C39DE-0EDC-4CA7-9312-F2BE1E44B9B7}" destId="{E873FBE8-D578-4301-BD9D-0CE46B1DDCD2}" srcOrd="0" destOrd="0" presId="urn:microsoft.com/office/officeart/2018/2/layout/IconCircleList"/>
    <dgm:cxn modelId="{C197F960-D6E4-4C7B-9DA0-915A3568ACC5}" type="presParOf" srcId="{FA8C39DE-0EDC-4CA7-9312-F2BE1E44B9B7}" destId="{8A3B92E9-AAB1-4DD2-9D51-0EA5B85485CF}" srcOrd="1" destOrd="0" presId="urn:microsoft.com/office/officeart/2018/2/layout/IconCircleList"/>
    <dgm:cxn modelId="{CD229E8E-BA35-4000-A309-99B34C091904}" type="presParOf" srcId="{FA8C39DE-0EDC-4CA7-9312-F2BE1E44B9B7}" destId="{48BF6533-14D5-4C91-9DA6-B3492C1BE545}" srcOrd="2" destOrd="0" presId="urn:microsoft.com/office/officeart/2018/2/layout/IconCircleList"/>
    <dgm:cxn modelId="{A458D74A-D0E8-4561-A3EC-03C9E0C53859}" type="presParOf" srcId="{FA8C39DE-0EDC-4CA7-9312-F2BE1E44B9B7}" destId="{0D393100-0EC7-449B-B15C-22DCCBC985B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E270E5-79EC-4347-B805-85F1D00AC974}">
      <dsp:nvSpPr>
        <dsp:cNvPr id="0" name=""/>
        <dsp:cNvSpPr/>
      </dsp:nvSpPr>
      <dsp:spPr>
        <a:xfrm>
          <a:off x="0" y="743426"/>
          <a:ext cx="5165725" cy="309943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a:t>Financing Opportunities:</a:t>
          </a:r>
          <a:endParaRPr lang="en-US" sz="3500" kern="1200"/>
        </a:p>
        <a:p>
          <a:pPr marL="228600" lvl="1" indent="-228600" algn="l" defTabSz="1200150">
            <a:lnSpc>
              <a:spcPct val="90000"/>
            </a:lnSpc>
            <a:spcBef>
              <a:spcPct val="0"/>
            </a:spcBef>
            <a:spcAft>
              <a:spcPct val="15000"/>
            </a:spcAft>
            <a:buChar char="•"/>
          </a:pPr>
          <a:r>
            <a:rPr lang="en-US" sz="2700" kern="1200"/>
            <a:t>Green financing </a:t>
          </a:r>
        </a:p>
        <a:p>
          <a:pPr marL="228600" lvl="1" indent="-228600" algn="l" defTabSz="1200150">
            <a:lnSpc>
              <a:spcPct val="90000"/>
            </a:lnSpc>
            <a:spcBef>
              <a:spcPct val="0"/>
            </a:spcBef>
            <a:spcAft>
              <a:spcPct val="15000"/>
            </a:spcAft>
            <a:buChar char="•"/>
          </a:pPr>
          <a:r>
            <a:rPr lang="en-US" sz="2700" kern="1200"/>
            <a:t>Sustainability-linked loans </a:t>
          </a:r>
        </a:p>
        <a:p>
          <a:pPr marL="228600" lvl="1" indent="-228600" algn="l" defTabSz="1200150">
            <a:lnSpc>
              <a:spcPct val="90000"/>
            </a:lnSpc>
            <a:spcBef>
              <a:spcPct val="0"/>
            </a:spcBef>
            <a:spcAft>
              <a:spcPct val="15000"/>
            </a:spcAft>
            <a:buChar char="•"/>
          </a:pPr>
          <a:r>
            <a:rPr lang="en-US" sz="2700" kern="1200"/>
            <a:t>Renewable energy projects </a:t>
          </a:r>
        </a:p>
        <a:p>
          <a:pPr marL="228600" lvl="1" indent="-228600" algn="l" defTabSz="1200150">
            <a:lnSpc>
              <a:spcPct val="90000"/>
            </a:lnSpc>
            <a:spcBef>
              <a:spcPct val="0"/>
            </a:spcBef>
            <a:spcAft>
              <a:spcPct val="15000"/>
            </a:spcAft>
            <a:buChar char="•"/>
          </a:pPr>
          <a:r>
            <a:rPr lang="en-US" sz="2700" kern="1200"/>
            <a:t>Energy-efficiency investments </a:t>
          </a:r>
        </a:p>
        <a:p>
          <a:pPr marL="228600" lvl="1" indent="-228600" algn="l" defTabSz="1200150">
            <a:lnSpc>
              <a:spcPct val="90000"/>
            </a:lnSpc>
            <a:spcBef>
              <a:spcPct val="0"/>
            </a:spcBef>
            <a:spcAft>
              <a:spcPct val="15000"/>
            </a:spcAft>
            <a:buChar char="•"/>
          </a:pPr>
          <a:r>
            <a:rPr lang="en-US" sz="2700" kern="1200"/>
            <a:t>Clean technology adoption </a:t>
          </a:r>
        </a:p>
      </dsp:txBody>
      <dsp:txXfrm>
        <a:off x="0" y="743426"/>
        <a:ext cx="5165725" cy="30994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C1CA38-7317-431A-BF01-67A94432BE93}">
      <dsp:nvSpPr>
        <dsp:cNvPr id="0" name=""/>
        <dsp:cNvSpPr/>
      </dsp:nvSpPr>
      <dsp:spPr>
        <a:xfrm>
          <a:off x="0" y="3583"/>
          <a:ext cx="4991100" cy="7631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63BD9C-A7C0-4E48-864C-0C17E2E4AB56}">
      <dsp:nvSpPr>
        <dsp:cNvPr id="0" name=""/>
        <dsp:cNvSpPr/>
      </dsp:nvSpPr>
      <dsp:spPr>
        <a:xfrm>
          <a:off x="230864" y="175300"/>
          <a:ext cx="419752" cy="419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963C6E-8E52-4D88-BAC6-6C000DCA6233}">
      <dsp:nvSpPr>
        <dsp:cNvPr id="0" name=""/>
        <dsp:cNvSpPr/>
      </dsp:nvSpPr>
      <dsp:spPr>
        <a:xfrm>
          <a:off x="881480" y="3583"/>
          <a:ext cx="4109619" cy="763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71" tIns="80771" rIns="80771" bIns="80771" numCol="1" spcCol="1270" anchor="ctr" anchorCtr="0">
          <a:noAutofit/>
        </a:bodyPr>
        <a:lstStyle/>
        <a:p>
          <a:pPr marL="0" lvl="0" indent="0" algn="l" defTabSz="666750">
            <a:lnSpc>
              <a:spcPct val="90000"/>
            </a:lnSpc>
            <a:spcBef>
              <a:spcPct val="0"/>
            </a:spcBef>
            <a:spcAft>
              <a:spcPct val="35000"/>
            </a:spcAft>
            <a:buNone/>
          </a:pPr>
          <a:r>
            <a:rPr lang="en-US" sz="1500" b="1" kern="1200"/>
            <a:t>Example:</a:t>
          </a:r>
          <a:endParaRPr lang="en-US" sz="1500" kern="1200"/>
        </a:p>
      </dsp:txBody>
      <dsp:txXfrm>
        <a:off x="881480" y="3583"/>
        <a:ext cx="4109619" cy="763186"/>
      </dsp:txXfrm>
    </dsp:sp>
    <dsp:sp modelId="{55C62BEF-4C71-48F2-AAF7-B42C994FC147}">
      <dsp:nvSpPr>
        <dsp:cNvPr id="0" name=""/>
        <dsp:cNvSpPr/>
      </dsp:nvSpPr>
      <dsp:spPr>
        <a:xfrm>
          <a:off x="0" y="957566"/>
          <a:ext cx="4991100" cy="7631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C7AFA6-B441-4EE0-ABC6-166A9DCFD3D0}">
      <dsp:nvSpPr>
        <dsp:cNvPr id="0" name=""/>
        <dsp:cNvSpPr/>
      </dsp:nvSpPr>
      <dsp:spPr>
        <a:xfrm>
          <a:off x="230864" y="1129283"/>
          <a:ext cx="419752" cy="419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52EB5A-A52E-4A6B-B565-4BA714033472}">
      <dsp:nvSpPr>
        <dsp:cNvPr id="0" name=""/>
        <dsp:cNvSpPr/>
      </dsp:nvSpPr>
      <dsp:spPr>
        <a:xfrm>
          <a:off x="881480" y="957566"/>
          <a:ext cx="4109619" cy="763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71" tIns="80771" rIns="80771" bIns="80771" numCol="1" spcCol="1270" anchor="ctr" anchorCtr="0">
          <a:noAutofit/>
        </a:bodyPr>
        <a:lstStyle/>
        <a:p>
          <a:pPr marL="0" lvl="0" indent="0" algn="l" defTabSz="666750">
            <a:lnSpc>
              <a:spcPct val="90000"/>
            </a:lnSpc>
            <a:spcBef>
              <a:spcPct val="0"/>
            </a:spcBef>
            <a:spcAft>
              <a:spcPct val="35000"/>
            </a:spcAft>
            <a:buNone/>
          </a:pPr>
          <a:r>
            <a:rPr lang="en-US" sz="1500" b="1" kern="1200"/>
            <a:t>Current Emissions:</a:t>
          </a:r>
          <a:br>
            <a:rPr lang="en-US" sz="1500" kern="1200"/>
          </a:br>
          <a:r>
            <a:rPr lang="en-US" sz="1500" kern="1200"/>
            <a:t>100,000 tCO₂e</a:t>
          </a:r>
        </a:p>
      </dsp:txBody>
      <dsp:txXfrm>
        <a:off x="881480" y="957566"/>
        <a:ext cx="4109619" cy="763186"/>
      </dsp:txXfrm>
    </dsp:sp>
    <dsp:sp modelId="{4A2DDB3F-F07A-46E5-B5A3-E573969611F9}">
      <dsp:nvSpPr>
        <dsp:cNvPr id="0" name=""/>
        <dsp:cNvSpPr/>
      </dsp:nvSpPr>
      <dsp:spPr>
        <a:xfrm>
          <a:off x="0" y="1911550"/>
          <a:ext cx="4991100" cy="7631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9608D8-BB5A-4B2C-8F2E-E0E3F9D58C61}">
      <dsp:nvSpPr>
        <dsp:cNvPr id="0" name=""/>
        <dsp:cNvSpPr/>
      </dsp:nvSpPr>
      <dsp:spPr>
        <a:xfrm>
          <a:off x="230864" y="2083267"/>
          <a:ext cx="419752" cy="419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22CEBE-F651-4666-97E4-941D8CA6C57F}">
      <dsp:nvSpPr>
        <dsp:cNvPr id="0" name=""/>
        <dsp:cNvSpPr/>
      </dsp:nvSpPr>
      <dsp:spPr>
        <a:xfrm>
          <a:off x="881480" y="1911550"/>
          <a:ext cx="4109619" cy="763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71" tIns="80771" rIns="80771" bIns="80771" numCol="1" spcCol="1270" anchor="ctr" anchorCtr="0">
          <a:noAutofit/>
        </a:bodyPr>
        <a:lstStyle/>
        <a:p>
          <a:pPr marL="0" lvl="0" indent="0" algn="l" defTabSz="666750">
            <a:lnSpc>
              <a:spcPct val="90000"/>
            </a:lnSpc>
            <a:spcBef>
              <a:spcPct val="0"/>
            </a:spcBef>
            <a:spcAft>
              <a:spcPct val="35000"/>
            </a:spcAft>
            <a:buNone/>
          </a:pPr>
          <a:r>
            <a:rPr lang="en-US" sz="1500" b="1" kern="1200"/>
            <a:t>Forecast:</a:t>
          </a:r>
          <a:br>
            <a:rPr lang="en-US" sz="1500" kern="1200"/>
          </a:br>
          <a:r>
            <a:rPr lang="en-US" sz="1500" kern="1200"/>
            <a:t>115,000 tCO₂e</a:t>
          </a:r>
        </a:p>
      </dsp:txBody>
      <dsp:txXfrm>
        <a:off x="881480" y="1911550"/>
        <a:ext cx="4109619" cy="763186"/>
      </dsp:txXfrm>
    </dsp:sp>
    <dsp:sp modelId="{187BBF36-666B-4865-8010-493F14A91639}">
      <dsp:nvSpPr>
        <dsp:cNvPr id="0" name=""/>
        <dsp:cNvSpPr/>
      </dsp:nvSpPr>
      <dsp:spPr>
        <a:xfrm>
          <a:off x="0" y="2865534"/>
          <a:ext cx="4991100" cy="7631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EAE3B7-D33D-4231-8D96-B4FEE9488B6C}">
      <dsp:nvSpPr>
        <dsp:cNvPr id="0" name=""/>
        <dsp:cNvSpPr/>
      </dsp:nvSpPr>
      <dsp:spPr>
        <a:xfrm>
          <a:off x="230864" y="3037251"/>
          <a:ext cx="419752" cy="419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98EF49-29E0-47E6-9C29-07A01D13A31A}">
      <dsp:nvSpPr>
        <dsp:cNvPr id="0" name=""/>
        <dsp:cNvSpPr/>
      </dsp:nvSpPr>
      <dsp:spPr>
        <a:xfrm>
          <a:off x="881480" y="2865534"/>
          <a:ext cx="4109619" cy="763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71" tIns="80771" rIns="80771" bIns="80771" numCol="1" spcCol="1270" anchor="ctr" anchorCtr="0">
          <a:noAutofit/>
        </a:bodyPr>
        <a:lstStyle/>
        <a:p>
          <a:pPr marL="0" lvl="0" indent="0" algn="l" defTabSz="666750">
            <a:lnSpc>
              <a:spcPct val="90000"/>
            </a:lnSpc>
            <a:spcBef>
              <a:spcPct val="0"/>
            </a:spcBef>
            <a:spcAft>
              <a:spcPct val="35000"/>
            </a:spcAft>
            <a:buNone/>
          </a:pPr>
          <a:r>
            <a:rPr lang="en-US" sz="1500" b="1" kern="1200"/>
            <a:t>Potential Reduction:</a:t>
          </a:r>
          <a:br>
            <a:rPr lang="en-US" sz="1500" kern="1200"/>
          </a:br>
          <a:r>
            <a:rPr lang="en-US" sz="1500" kern="1200"/>
            <a:t>15–20%</a:t>
          </a:r>
        </a:p>
      </dsp:txBody>
      <dsp:txXfrm>
        <a:off x="881480" y="2865534"/>
        <a:ext cx="4109619" cy="763186"/>
      </dsp:txXfrm>
    </dsp:sp>
    <dsp:sp modelId="{B537A4D3-4531-4686-8122-72440D2A2106}">
      <dsp:nvSpPr>
        <dsp:cNvPr id="0" name=""/>
        <dsp:cNvSpPr/>
      </dsp:nvSpPr>
      <dsp:spPr>
        <a:xfrm>
          <a:off x="0" y="3819517"/>
          <a:ext cx="4991100" cy="7631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44B61-CF4D-42F8-8432-A422AA8AABED}">
      <dsp:nvSpPr>
        <dsp:cNvPr id="0" name=""/>
        <dsp:cNvSpPr/>
      </dsp:nvSpPr>
      <dsp:spPr>
        <a:xfrm>
          <a:off x="230864" y="3991235"/>
          <a:ext cx="419752" cy="4197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489518-8A2C-43BD-9DFD-255BEEEAAAAA}">
      <dsp:nvSpPr>
        <dsp:cNvPr id="0" name=""/>
        <dsp:cNvSpPr/>
      </dsp:nvSpPr>
      <dsp:spPr>
        <a:xfrm>
          <a:off x="881480" y="3819517"/>
          <a:ext cx="4109619" cy="763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71" tIns="80771" rIns="80771" bIns="80771" numCol="1" spcCol="1270" anchor="ctr" anchorCtr="0">
          <a:noAutofit/>
        </a:bodyPr>
        <a:lstStyle/>
        <a:p>
          <a:pPr marL="0" lvl="0" indent="0" algn="l" defTabSz="666750">
            <a:lnSpc>
              <a:spcPct val="90000"/>
            </a:lnSpc>
            <a:spcBef>
              <a:spcPct val="0"/>
            </a:spcBef>
            <a:spcAft>
              <a:spcPct val="35000"/>
            </a:spcAft>
            <a:buNone/>
          </a:pPr>
          <a:r>
            <a:rPr lang="en-US" sz="1500" b="1" kern="1200"/>
            <a:t>Recommendation:</a:t>
          </a:r>
          <a:br>
            <a:rPr lang="en-US" sz="1500" kern="1200"/>
          </a:br>
          <a:r>
            <a:rPr lang="en-US" sz="1500" kern="1200"/>
            <a:t>Invest in energy efficiency &amp; renewable energy</a:t>
          </a:r>
        </a:p>
      </dsp:txBody>
      <dsp:txXfrm>
        <a:off x="881480" y="3819517"/>
        <a:ext cx="4109619" cy="7631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7648E-D911-4483-9196-2DE99D76F67E}">
      <dsp:nvSpPr>
        <dsp:cNvPr id="0" name=""/>
        <dsp:cNvSpPr/>
      </dsp:nvSpPr>
      <dsp:spPr>
        <a:xfrm>
          <a:off x="21509" y="167827"/>
          <a:ext cx="1081280" cy="108128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7188B3-4DFD-48B7-9CF3-D7CBCE5EF56D}">
      <dsp:nvSpPr>
        <dsp:cNvPr id="0" name=""/>
        <dsp:cNvSpPr/>
      </dsp:nvSpPr>
      <dsp:spPr>
        <a:xfrm>
          <a:off x="248578" y="394896"/>
          <a:ext cx="627142" cy="6271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39E0B1-5328-4CF6-83A2-236843CC135A}">
      <dsp:nvSpPr>
        <dsp:cNvPr id="0" name=""/>
        <dsp:cNvSpPr/>
      </dsp:nvSpPr>
      <dsp:spPr>
        <a:xfrm>
          <a:off x="1334492" y="167827"/>
          <a:ext cx="2548733" cy="1081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MySql:</a:t>
          </a:r>
        </a:p>
      </dsp:txBody>
      <dsp:txXfrm>
        <a:off x="1334492" y="167827"/>
        <a:ext cx="2548733" cy="1081280"/>
      </dsp:txXfrm>
    </dsp:sp>
    <dsp:sp modelId="{85BC7350-C04A-415F-B569-48BDB88B1FCF}">
      <dsp:nvSpPr>
        <dsp:cNvPr id="0" name=""/>
        <dsp:cNvSpPr/>
      </dsp:nvSpPr>
      <dsp:spPr>
        <a:xfrm>
          <a:off x="4327323" y="167827"/>
          <a:ext cx="1081280" cy="108128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2D0E50-9500-4D35-956F-B50BE2CE2475}">
      <dsp:nvSpPr>
        <dsp:cNvPr id="0" name=""/>
        <dsp:cNvSpPr/>
      </dsp:nvSpPr>
      <dsp:spPr>
        <a:xfrm>
          <a:off x="4554392" y="394896"/>
          <a:ext cx="627142" cy="6271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BCF70B-356B-44DC-AC55-054DC671FFAD}">
      <dsp:nvSpPr>
        <dsp:cNvPr id="0" name=""/>
        <dsp:cNvSpPr/>
      </dsp:nvSpPr>
      <dsp:spPr>
        <a:xfrm>
          <a:off x="5640307" y="167827"/>
          <a:ext cx="2548733" cy="1081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(Database → Relationships → Queries → Emissions Analysis)</a:t>
          </a:r>
        </a:p>
      </dsp:txBody>
      <dsp:txXfrm>
        <a:off x="5640307" y="167827"/>
        <a:ext cx="2548733" cy="1081280"/>
      </dsp:txXfrm>
    </dsp:sp>
    <dsp:sp modelId="{7723F248-0F2E-4B9A-93BD-CC3E763F5BA1}">
      <dsp:nvSpPr>
        <dsp:cNvPr id="0" name=""/>
        <dsp:cNvSpPr/>
      </dsp:nvSpPr>
      <dsp:spPr>
        <a:xfrm>
          <a:off x="21509" y="1760791"/>
          <a:ext cx="1081280" cy="108128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559F70-BCC0-484C-8E85-8919CFFA7A20}">
      <dsp:nvSpPr>
        <dsp:cNvPr id="0" name=""/>
        <dsp:cNvSpPr/>
      </dsp:nvSpPr>
      <dsp:spPr>
        <a:xfrm>
          <a:off x="248578" y="1987860"/>
          <a:ext cx="627142" cy="6271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F20904-EA1B-469C-8AE7-55A4F82808DF}">
      <dsp:nvSpPr>
        <dsp:cNvPr id="0" name=""/>
        <dsp:cNvSpPr/>
      </dsp:nvSpPr>
      <dsp:spPr>
        <a:xfrm>
          <a:off x="1334492" y="1760791"/>
          <a:ext cx="2548733" cy="1081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Power BI:</a:t>
          </a:r>
        </a:p>
      </dsp:txBody>
      <dsp:txXfrm>
        <a:off x="1334492" y="1760791"/>
        <a:ext cx="2548733" cy="1081280"/>
      </dsp:txXfrm>
    </dsp:sp>
    <dsp:sp modelId="{E873FBE8-D578-4301-BD9D-0CE46B1DDCD2}">
      <dsp:nvSpPr>
        <dsp:cNvPr id="0" name=""/>
        <dsp:cNvSpPr/>
      </dsp:nvSpPr>
      <dsp:spPr>
        <a:xfrm>
          <a:off x="4327323" y="1760791"/>
          <a:ext cx="1081280" cy="108128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3B92E9-AAB1-4DD2-9D51-0EA5B85485CF}">
      <dsp:nvSpPr>
        <dsp:cNvPr id="0" name=""/>
        <dsp:cNvSpPr/>
      </dsp:nvSpPr>
      <dsp:spPr>
        <a:xfrm>
          <a:off x="4554392" y="1987860"/>
          <a:ext cx="627142" cy="6271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393100-0EC7-449B-B15C-22DCCBC985B1}">
      <dsp:nvSpPr>
        <dsp:cNvPr id="0" name=""/>
        <dsp:cNvSpPr/>
      </dsp:nvSpPr>
      <dsp:spPr>
        <a:xfrm>
          <a:off x="5640307" y="1760791"/>
          <a:ext cx="2548733" cy="1081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(Data Visualization)     </a:t>
          </a:r>
        </a:p>
      </dsp:txBody>
      <dsp:txXfrm>
        <a:off x="5640307" y="1760791"/>
        <a:ext cx="2548733" cy="10812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41F38-EC23-4EDE-B279-CE37A35466D6}"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95FFA-C868-49AE-9FDE-0B536730AF29}" type="slidenum">
              <a:rPr lang="en-US" smtClean="0"/>
              <a:t>‹#›</a:t>
            </a:fld>
            <a:endParaRPr lang="en-US"/>
          </a:p>
        </p:txBody>
      </p:sp>
    </p:spTree>
    <p:extLst>
      <p:ext uri="{BB962C8B-B14F-4D97-AF65-F5344CB8AC3E}">
        <p14:creationId xmlns:p14="http://schemas.microsoft.com/office/powerpoint/2010/main" val="2585434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fb3355d76c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fb3355d76c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b3355d76c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b3355d76c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fb3247022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fb3247022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fb3247022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fb324702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fb3247022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fb3247022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fb3247022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fb3247022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fb3247022f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fb3247022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fb3247022f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fb3247022f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b3247022f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fb3247022f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fb3247022f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fb3247022f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fb3247022f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fb3247022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fb3247022f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fb3247022f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fb3247022f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fb3247022f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fb3247022f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fb3247022f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fb3247022f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fb3247022f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fb3247022f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fb3247022f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fb3247022f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fb3247022f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FBDE1BFD-9E11-4195-909F-5793BD46D546}" type="slidenum">
              <a:rPr lang="en-US" smtClean="0"/>
              <a:t>‹#›</a:t>
            </a:fld>
            <a:endParaRPr lang="en-US"/>
          </a:p>
        </p:txBody>
      </p:sp>
    </p:spTree>
    <p:extLst>
      <p:ext uri="{BB962C8B-B14F-4D97-AF65-F5344CB8AC3E}">
        <p14:creationId xmlns:p14="http://schemas.microsoft.com/office/powerpoint/2010/main" val="83829659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85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05018A52-709C-4E10-AAF5-E8C2A7384A43}" type="datetimeFigureOut">
              <a:rPr lang="en-US" smtClean="0"/>
              <a:t>9/12/2026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FBDE1BFD-9E11-4195-909F-5793BD46D546}" type="slidenum">
              <a:rPr lang="en-US" smtClean="0"/>
              <a:t>‹#›</a:t>
            </a:fld>
            <a:endParaRPr lang="en-US"/>
          </a:p>
        </p:txBody>
      </p:sp>
    </p:spTree>
    <p:extLst>
      <p:ext uri="{BB962C8B-B14F-4D97-AF65-F5344CB8AC3E}">
        <p14:creationId xmlns:p14="http://schemas.microsoft.com/office/powerpoint/2010/main" val="145894025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05018A52-709C-4E10-AAF5-E8C2A7384A43}" type="datetimeFigureOut">
              <a:rPr lang="en-US" smtClean="0"/>
              <a:t>9/12/2026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FBDE1BFD-9E11-4195-909F-5793BD46D546}"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08422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FBDE1BFD-9E11-4195-909F-5793BD46D546}" type="slidenum">
              <a:rPr lang="en-US" smtClean="0"/>
              <a:t>‹#›</a:t>
            </a:fld>
            <a:endParaRPr lang="en-US"/>
          </a:p>
        </p:txBody>
      </p:sp>
    </p:spTree>
    <p:extLst>
      <p:ext uri="{BB962C8B-B14F-4D97-AF65-F5344CB8AC3E}">
        <p14:creationId xmlns:p14="http://schemas.microsoft.com/office/powerpoint/2010/main" val="782993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9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05018A52-709C-4E10-AAF5-E8C2A7384A43}" type="datetimeFigureOut">
              <a:rPr lang="en-US" smtClean="0"/>
              <a:t>9/12/2026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150947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4747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707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932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05018A52-709C-4E10-AAF5-E8C2A7384A43}" type="datetimeFigureOut">
              <a:rPr lang="en-US" smtClean="0"/>
              <a:t>9/12/2026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FBDE1BFD-9E11-4195-909F-5793BD46D546}"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4608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05018A52-709C-4E10-AAF5-E8C2A7384A43}" type="datetimeFigureOut">
              <a:rPr lang="en-US" smtClean="0"/>
              <a:t>9/12/2026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1810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5018A52-709C-4E10-AAF5-E8C2A7384A43}" type="datetimeFigureOut">
              <a:rPr lang="en-US" smtClean="0"/>
              <a:t>9/12/2026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2143397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05018A52-709C-4E10-AAF5-E8C2A7384A43}" type="datetimeFigureOut">
              <a:rPr lang="en-US" smtClean="0"/>
              <a:t>9/12/2026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6349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663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05018A52-709C-4E10-AAF5-E8C2A7384A43}" type="datetimeFigureOut">
              <a:rPr lang="en-US" smtClean="0"/>
              <a:t>9/12/2026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FBDE1BFD-9E11-4195-909F-5793BD46D546}"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54409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02913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01181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2503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FBDE1BFD-9E11-4195-909F-5793BD46D546}"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2153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FBDE1BFD-9E11-4195-909F-5793BD46D546}"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044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05018A52-709C-4E10-AAF5-E8C2A7384A43}" type="datetimeFigureOut">
              <a:rPr lang="en-US" smtClean="0"/>
              <a:t>9/12/2026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FBDE1BFD-9E11-4195-909F-5793BD46D546}"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3959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05018A52-709C-4E10-AAF5-E8C2A7384A43}" type="datetimeFigureOut">
              <a:rPr lang="en-US" smtClean="0"/>
              <a:t>9/12/2026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FBDE1BFD-9E11-4195-909F-5793BD46D546}"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02105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FBDE1BFD-9E11-4195-909F-5793BD46D546}"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520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05018A52-709C-4E10-AAF5-E8C2A7384A43}" type="datetimeFigureOut">
              <a:rPr lang="en-US" smtClean="0"/>
              <a:t>9/12/2026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FBDE1BFD-9E11-4195-909F-5793BD46D546}"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54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5018A52-709C-4E10-AAF5-E8C2A7384A43}" type="datetimeFigureOut">
              <a:rPr lang="en-US" smtClean="0"/>
              <a:t>9/12/2026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FBDE1BFD-9E11-4195-909F-5793BD46D546}" type="slidenum">
              <a:rPr lang="en-US" smtClean="0"/>
              <a:t>‹#›</a:t>
            </a:fld>
            <a:endParaRPr lang="en-US"/>
          </a:p>
        </p:txBody>
      </p:sp>
    </p:spTree>
    <p:extLst>
      <p:ext uri="{BB962C8B-B14F-4D97-AF65-F5344CB8AC3E}">
        <p14:creationId xmlns:p14="http://schemas.microsoft.com/office/powerpoint/2010/main" val="7524208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05018A52-709C-4E10-AAF5-E8C2A7384A43}" type="datetimeFigureOut">
              <a:rPr lang="en-US" smtClean="0"/>
              <a:t>9/12/2026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FBDE1BFD-9E11-4195-909F-5793BD46D546}" type="slidenum">
              <a:rPr lang="en-US" smtClean="0"/>
              <a:t>‹#›</a:t>
            </a:fld>
            <a:endParaRPr lang="en-US"/>
          </a:p>
        </p:txBody>
      </p:sp>
    </p:spTree>
    <p:extLst>
      <p:ext uri="{BB962C8B-B14F-4D97-AF65-F5344CB8AC3E}">
        <p14:creationId xmlns:p14="http://schemas.microsoft.com/office/powerpoint/2010/main" val="35903884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1_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05018A52-709C-4E10-AAF5-E8C2A7384A43}" type="datetimeFigureOut">
              <a:rPr lang="en-US" smtClean="0"/>
              <a:t>9/12/2026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FBDE1BFD-9E11-4195-909F-5793BD46D546}" type="slidenum">
              <a:rPr lang="en-US" smtClean="0"/>
              <a:t>‹#›</a:t>
            </a:fld>
            <a:endParaRPr lang="en-US"/>
          </a:p>
        </p:txBody>
      </p:sp>
    </p:spTree>
    <p:extLst>
      <p:ext uri="{BB962C8B-B14F-4D97-AF65-F5344CB8AC3E}">
        <p14:creationId xmlns:p14="http://schemas.microsoft.com/office/powerpoint/2010/main" val="128730599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05018A52-709C-4E10-AAF5-E8C2A7384A43}"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FBDE1BFD-9E11-4195-909F-5793BD46D546}"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6423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AFB5-1DD7-BBEF-45E8-07FC1D525D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CC53E10-6B98-8260-B8CA-6E0A9B4857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F8A1D61-6B9B-80F3-5B29-939B887A442E}"/>
              </a:ext>
            </a:extLst>
          </p:cNvPr>
          <p:cNvSpPr>
            <a:spLocks noGrp="1"/>
          </p:cNvSpPr>
          <p:nvPr>
            <p:ph type="dt" sz="half" idx="10"/>
          </p:nvPr>
        </p:nvSpPr>
        <p:spPr/>
        <p:txBody>
          <a:bodyPr/>
          <a:lstStyle/>
          <a:p>
            <a:fld id="{63BBC25C-6A1D-42BF-8213-879696DE0221}" type="datetimeFigureOut">
              <a:rPr lang="en-GB" smtClean="0"/>
              <a:t>12/09/2026</a:t>
            </a:fld>
            <a:endParaRPr lang="en-GB"/>
          </a:p>
        </p:txBody>
      </p:sp>
      <p:sp>
        <p:nvSpPr>
          <p:cNvPr id="5" name="Footer Placeholder 4">
            <a:extLst>
              <a:ext uri="{FF2B5EF4-FFF2-40B4-BE49-F238E27FC236}">
                <a16:creationId xmlns:a16="http://schemas.microsoft.com/office/drawing/2014/main" id="{704414EF-02C2-E77E-CBF5-78D100B54D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BC268C-CA02-1BB5-953E-045EE5EC4846}"/>
              </a:ext>
            </a:extLst>
          </p:cNvPr>
          <p:cNvSpPr>
            <a:spLocks noGrp="1"/>
          </p:cNvSpPr>
          <p:nvPr>
            <p:ph type="sldNum" sz="quarter" idx="12"/>
          </p:nvPr>
        </p:nvSpPr>
        <p:spPr/>
        <p:txBody>
          <a:bodyPr/>
          <a:lstStyle/>
          <a:p>
            <a:fld id="{33D42F46-7DC4-41F8-BC3C-50DFC4352FEC}" type="slidenum">
              <a:rPr lang="en-GB" smtClean="0"/>
              <a:t>‹#›</a:t>
            </a:fld>
            <a:endParaRPr lang="en-GB"/>
          </a:p>
        </p:txBody>
      </p:sp>
    </p:spTree>
    <p:extLst>
      <p:ext uri="{BB962C8B-B14F-4D97-AF65-F5344CB8AC3E}">
        <p14:creationId xmlns:p14="http://schemas.microsoft.com/office/powerpoint/2010/main" val="29103006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79C6E-A966-8603-AF56-26089BBF4A7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F66B73F-5F23-AC23-8103-94C38731AE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C8DA30-7188-0EEB-28DF-B570F7C49EB3}"/>
              </a:ext>
            </a:extLst>
          </p:cNvPr>
          <p:cNvSpPr>
            <a:spLocks noGrp="1"/>
          </p:cNvSpPr>
          <p:nvPr>
            <p:ph type="dt" sz="half" idx="10"/>
          </p:nvPr>
        </p:nvSpPr>
        <p:spPr/>
        <p:txBody>
          <a:bodyPr/>
          <a:lstStyle/>
          <a:p>
            <a:fld id="{63BBC25C-6A1D-42BF-8213-879696DE0221}" type="datetimeFigureOut">
              <a:rPr lang="en-GB" smtClean="0"/>
              <a:t>12/09/2026</a:t>
            </a:fld>
            <a:endParaRPr lang="en-GB"/>
          </a:p>
        </p:txBody>
      </p:sp>
      <p:sp>
        <p:nvSpPr>
          <p:cNvPr id="5" name="Footer Placeholder 4">
            <a:extLst>
              <a:ext uri="{FF2B5EF4-FFF2-40B4-BE49-F238E27FC236}">
                <a16:creationId xmlns:a16="http://schemas.microsoft.com/office/drawing/2014/main" id="{1D08BEFD-F3D5-2D37-D1ED-CAE344A1A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1C4E29-D668-20CB-B694-B34FA3BB037B}"/>
              </a:ext>
            </a:extLst>
          </p:cNvPr>
          <p:cNvSpPr>
            <a:spLocks noGrp="1"/>
          </p:cNvSpPr>
          <p:nvPr>
            <p:ph type="sldNum" sz="quarter" idx="12"/>
          </p:nvPr>
        </p:nvSpPr>
        <p:spPr/>
        <p:txBody>
          <a:bodyPr/>
          <a:lstStyle/>
          <a:p>
            <a:fld id="{33D42F46-7DC4-41F8-BC3C-50DFC4352FEC}" type="slidenum">
              <a:rPr lang="en-GB" smtClean="0"/>
              <a:t>‹#›</a:t>
            </a:fld>
            <a:endParaRPr lang="en-GB"/>
          </a:p>
        </p:txBody>
      </p:sp>
    </p:spTree>
    <p:extLst>
      <p:ext uri="{BB962C8B-B14F-4D97-AF65-F5344CB8AC3E}">
        <p14:creationId xmlns:p14="http://schemas.microsoft.com/office/powerpoint/2010/main" val="397474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05018A52-709C-4E10-AAF5-E8C2A7384A43}" type="datetimeFigureOut">
              <a:rPr lang="en-US" smtClean="0"/>
              <a:t>9/12/2026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FBDE1BFD-9E11-4195-909F-5793BD46D546}"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9894208"/>
      </p:ext>
    </p:extLst>
  </p:cSld>
  <p:clrMap bg1="dk1" tx1="lt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 id="2147483825" r:id="rId18"/>
    <p:sldLayoutId id="2147483826" r:id="rId19"/>
    <p:sldLayoutId id="2147483827" r:id="rId20"/>
    <p:sldLayoutId id="2147483828" r:id="rId21"/>
    <p:sldLayoutId id="2147483829" r:id="rId22"/>
    <p:sldLayoutId id="2147483830" r:id="rId23"/>
    <p:sldLayoutId id="2147483831" r:id="rId24"/>
    <p:sldLayoutId id="2147483832" r:id="rId25"/>
    <p:sldLayoutId id="2147483833" r:id="rId26"/>
    <p:sldLayoutId id="2147483834" r:id="rId27"/>
    <p:sldLayoutId id="2147483835" r:id="rId28"/>
    <p:sldLayoutId id="2147483836" r:id="rId29"/>
    <p:sldLayoutId id="2147483837" r:id="rId30"/>
    <p:sldLayoutId id="2147483838" r:id="rId31"/>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6.jpeg"/><Relationship Id="rId2" Type="http://schemas.openxmlformats.org/officeDocument/2006/relationships/diagramData" Target="../diagrams/data3.xml"/><Relationship Id="rId1" Type="http://schemas.openxmlformats.org/officeDocument/2006/relationships/slideLayout" Target="../slideLayouts/slideLayout2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30.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30.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Video 4" descr="Factories And Smoke">
            <a:extLst>
              <a:ext uri="{FF2B5EF4-FFF2-40B4-BE49-F238E27FC236}">
                <a16:creationId xmlns:a16="http://schemas.microsoft.com/office/drawing/2014/main" id="{C5A79CF1-8801-C700-A1E1-156DC762871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6789" y="88490"/>
            <a:ext cx="12192001" cy="6858000"/>
          </a:xfrm>
          <a:prstGeom prst="rect">
            <a:avLst/>
          </a:prstGeom>
          <a:noFill/>
        </p:spPr>
      </p:pic>
      <p:sp>
        <p:nvSpPr>
          <p:cNvPr id="2" name="Title 1">
            <a:extLst>
              <a:ext uri="{FF2B5EF4-FFF2-40B4-BE49-F238E27FC236}">
                <a16:creationId xmlns:a16="http://schemas.microsoft.com/office/drawing/2014/main" id="{D6E14889-078B-1C32-1335-3597574E273E}"/>
              </a:ext>
            </a:extLst>
          </p:cNvPr>
          <p:cNvSpPr>
            <a:spLocks noGrp="1"/>
          </p:cNvSpPr>
          <p:nvPr>
            <p:ph type="title"/>
          </p:nvPr>
        </p:nvSpPr>
        <p:spPr>
          <a:xfrm>
            <a:off x="9838" y="275303"/>
            <a:ext cx="12188952" cy="2394157"/>
          </a:xfrm>
        </p:spPr>
        <p:txBody>
          <a:bodyPr anchor="t">
            <a:normAutofit/>
          </a:bodyPr>
          <a:lstStyle/>
          <a:p>
            <a:r>
              <a:rPr lang="en-US" b="1" dirty="0"/>
              <a:t>Carbon Emissions Analytics &amp; Sustainable Finance Platform</a:t>
            </a:r>
          </a:p>
        </p:txBody>
      </p:sp>
      <p:sp>
        <p:nvSpPr>
          <p:cNvPr id="3" name="Subtitle 2">
            <a:extLst>
              <a:ext uri="{FF2B5EF4-FFF2-40B4-BE49-F238E27FC236}">
                <a16:creationId xmlns:a16="http://schemas.microsoft.com/office/drawing/2014/main" id="{6AF8702A-49C0-C0E5-823B-CE804FC5E44E}"/>
              </a:ext>
            </a:extLst>
          </p:cNvPr>
          <p:cNvSpPr>
            <a:spLocks noGrp="1"/>
          </p:cNvSpPr>
          <p:nvPr>
            <p:ph type="subTitle" idx="1"/>
          </p:nvPr>
        </p:nvSpPr>
        <p:spPr>
          <a:xfrm>
            <a:off x="6789" y="2442267"/>
            <a:ext cx="6096000" cy="4456112"/>
          </a:xfrm>
        </p:spPr>
        <p:txBody>
          <a:bodyPr anchor="b">
            <a:noAutofit/>
          </a:bodyPr>
          <a:lstStyle/>
          <a:p>
            <a:r>
              <a:rPr lang="en-US" sz="2000" b="1" dirty="0"/>
              <a:t>Subtitle</a:t>
            </a:r>
            <a:r>
              <a:rPr lang="en-US" sz="1600" b="1" dirty="0">
                <a:solidFill>
                  <a:schemeClr val="bg1"/>
                </a:solidFill>
              </a:rPr>
              <a:t>:</a:t>
            </a:r>
          </a:p>
          <a:p>
            <a:r>
              <a:rPr lang="en-US" sz="1600" dirty="0"/>
              <a:t>Turning Carbon Emissions Data into Sustainable Financing Decisions</a:t>
            </a:r>
          </a:p>
          <a:p>
            <a:r>
              <a:rPr lang="en-US" sz="2000" b="1" dirty="0"/>
              <a:t>Content:</a:t>
            </a:r>
          </a:p>
          <a:p>
            <a:pPr marL="285750" indent="-285750">
              <a:buFont typeface="Wingdings" panose="05000000000000000000" pitchFamily="2" charset="2"/>
              <a:buChar char="q"/>
            </a:pPr>
            <a:r>
              <a:rPr lang="en-US" sz="1600" dirty="0"/>
              <a:t>A data-driven platform for monitoring and analyzing corporate carbon emissions.</a:t>
            </a:r>
          </a:p>
          <a:p>
            <a:pPr marL="285750" indent="-285750">
              <a:buFont typeface="Wingdings" panose="05000000000000000000" pitchFamily="2" charset="2"/>
              <a:buChar char="q"/>
            </a:pPr>
            <a:r>
              <a:rPr lang="en-US" sz="1600" dirty="0"/>
              <a:t>Measures emissions across </a:t>
            </a:r>
            <a:r>
              <a:rPr lang="en-US" sz="1600" b="1" dirty="0"/>
              <a:t>Scope 1, Scope 2, and Scope 3</a:t>
            </a:r>
          </a:p>
          <a:p>
            <a:pPr marL="285750" indent="-285750">
              <a:buFont typeface="Wingdings" panose="05000000000000000000" pitchFamily="2" charset="2"/>
              <a:buChar char="q"/>
            </a:pPr>
            <a:r>
              <a:rPr lang="en-US" sz="1600" dirty="0"/>
              <a:t>Identifies companies with the </a:t>
            </a:r>
            <a:r>
              <a:rPr lang="en-US" sz="1600" b="1" dirty="0"/>
              <a:t>highest environmental impact</a:t>
            </a:r>
            <a:r>
              <a:rPr lang="en-US" sz="1600" dirty="0"/>
              <a:t>.</a:t>
            </a:r>
          </a:p>
          <a:p>
            <a:pPr marL="285750" indent="-285750">
              <a:buFont typeface="Wingdings" panose="05000000000000000000" pitchFamily="2" charset="2"/>
              <a:buChar char="q"/>
            </a:pPr>
            <a:r>
              <a:rPr lang="en-US" sz="1600" dirty="0"/>
              <a:t>Supports financial institutions in making </a:t>
            </a:r>
            <a:r>
              <a:rPr lang="en-US" sz="1600" b="1" dirty="0"/>
              <a:t>data-driven sustainable financing decisions</a:t>
            </a:r>
            <a:r>
              <a:rPr lang="en-US" sz="1600" dirty="0"/>
              <a:t>.</a:t>
            </a:r>
          </a:p>
        </p:txBody>
      </p:sp>
    </p:spTree>
    <p:extLst>
      <p:ext uri="{BB962C8B-B14F-4D97-AF65-F5344CB8AC3E}">
        <p14:creationId xmlns:p14="http://schemas.microsoft.com/office/powerpoint/2010/main" val="144118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6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29373-0B26-953C-FEFE-ED5A4F354FCC}"/>
              </a:ext>
            </a:extLst>
          </p:cNvPr>
          <p:cNvSpPr>
            <a:spLocks noGrp="1"/>
          </p:cNvSpPr>
          <p:nvPr>
            <p:ph type="title"/>
          </p:nvPr>
        </p:nvSpPr>
        <p:spPr>
          <a:xfrm>
            <a:off x="301752" y="309404"/>
            <a:ext cx="6751127" cy="1250871"/>
          </a:xfrm>
        </p:spPr>
        <p:txBody>
          <a:bodyPr anchor="b">
            <a:normAutofit/>
          </a:bodyPr>
          <a:lstStyle/>
          <a:p>
            <a:r>
              <a:rPr lang="en-US" sz="3200" b="1" dirty="0"/>
              <a:t>The Problem</a:t>
            </a:r>
          </a:p>
        </p:txBody>
      </p:sp>
      <p:sp>
        <p:nvSpPr>
          <p:cNvPr id="3" name="Content Placeholder 2">
            <a:extLst>
              <a:ext uri="{FF2B5EF4-FFF2-40B4-BE49-F238E27FC236}">
                <a16:creationId xmlns:a16="http://schemas.microsoft.com/office/drawing/2014/main" id="{0751160E-C814-CD2C-9B91-76DABA8F42F9}"/>
              </a:ext>
            </a:extLst>
          </p:cNvPr>
          <p:cNvSpPr>
            <a:spLocks noGrp="1"/>
          </p:cNvSpPr>
          <p:nvPr>
            <p:ph sz="quarter" idx="14"/>
          </p:nvPr>
        </p:nvSpPr>
        <p:spPr>
          <a:xfrm>
            <a:off x="301752" y="1828800"/>
            <a:ext cx="6755514" cy="4389120"/>
          </a:xfrm>
        </p:spPr>
        <p:txBody>
          <a:bodyPr>
            <a:normAutofit/>
          </a:bodyPr>
          <a:lstStyle/>
          <a:p>
            <a:r>
              <a:rPr lang="en-US" sz="1800" b="1" dirty="0"/>
              <a:t>The Problem: Who Is Creating the Highest Environmental Impact?</a:t>
            </a:r>
          </a:p>
          <a:p>
            <a:r>
              <a:rPr lang="en-US" sz="1800" b="1" dirty="0"/>
              <a:t>Content:</a:t>
            </a:r>
          </a:p>
          <a:p>
            <a:r>
              <a:rPr lang="en-US" sz="1800" dirty="0"/>
              <a:t>Companies generate different levels of carbon emissions, but organizations may face challenges in:</a:t>
            </a:r>
          </a:p>
          <a:p>
            <a:pPr marL="285750" lvl="0" indent="-285750">
              <a:buFont typeface="Arial" panose="020B0604020202020204" pitchFamily="34" charset="0"/>
              <a:buChar char="•"/>
            </a:pPr>
            <a:r>
              <a:rPr lang="en-US" sz="1800" dirty="0"/>
              <a:t>Identifying the </a:t>
            </a:r>
            <a:r>
              <a:rPr lang="en-US" sz="1800" b="1" dirty="0"/>
              <a:t>highest-emitting companies</a:t>
            </a:r>
            <a:r>
              <a:rPr lang="en-US" sz="1800" dirty="0"/>
              <a:t>. </a:t>
            </a:r>
          </a:p>
          <a:p>
            <a:pPr marL="285750" lvl="0" indent="-285750">
              <a:buFont typeface="Arial" panose="020B0604020202020204" pitchFamily="34" charset="0"/>
              <a:buChar char="•"/>
            </a:pPr>
            <a:r>
              <a:rPr lang="en-US" sz="1800" dirty="0"/>
              <a:t>Understanding the main sources of their emissions. </a:t>
            </a:r>
          </a:p>
          <a:p>
            <a:pPr marL="285750" lvl="0" indent="-285750">
              <a:buFont typeface="Arial" panose="020B0604020202020204" pitchFamily="34" charset="0"/>
              <a:buChar char="•"/>
            </a:pPr>
            <a:r>
              <a:rPr lang="en-US" sz="1800" dirty="0"/>
              <a:t>Comparing environmental performance across companies. </a:t>
            </a:r>
          </a:p>
          <a:p>
            <a:pPr marL="285750" lvl="0" indent="-285750">
              <a:buFont typeface="Arial" panose="020B0604020202020204" pitchFamily="34" charset="0"/>
              <a:buChar char="•"/>
            </a:pPr>
            <a:r>
              <a:rPr lang="en-US" sz="1800" dirty="0"/>
              <a:t>Prioritizing which companies need immediate support. </a:t>
            </a:r>
          </a:p>
          <a:p>
            <a:pPr marL="285750" lvl="0" indent="-285750">
              <a:buFont typeface="Arial" panose="020B0604020202020204" pitchFamily="34" charset="0"/>
              <a:buChar char="•"/>
            </a:pPr>
            <a:r>
              <a:rPr lang="en-US" sz="1800" dirty="0"/>
              <a:t>Connecting environmental performance with </a:t>
            </a:r>
            <a:r>
              <a:rPr lang="en-US" sz="1800" b="1" dirty="0"/>
              <a:t>financial decisions</a:t>
            </a:r>
            <a:r>
              <a:rPr lang="en-US" sz="1800" dirty="0"/>
              <a:t>. </a:t>
            </a:r>
          </a:p>
          <a:p>
            <a:endParaRPr lang="en-US" dirty="0"/>
          </a:p>
        </p:txBody>
      </p:sp>
      <p:pic>
        <p:nvPicPr>
          <p:cNvPr id="5" name="Picture 4" descr="Smoke from factories">
            <a:extLst>
              <a:ext uri="{FF2B5EF4-FFF2-40B4-BE49-F238E27FC236}">
                <a16:creationId xmlns:a16="http://schemas.microsoft.com/office/drawing/2014/main" id="{E9A35840-AA07-3567-8B8B-A2E31004C32D}"/>
              </a:ext>
            </a:extLst>
          </p:cNvPr>
          <p:cNvPicPr>
            <a:picLocks noChangeAspect="1"/>
          </p:cNvPicPr>
          <p:nvPr/>
        </p:nvPicPr>
        <p:blipFill>
          <a:blip r:embed="rId2"/>
          <a:srcRect l="24194" r="31305" b="-1"/>
          <a:stretch>
            <a:fillRect/>
          </a:stretch>
        </p:blipFill>
        <p:spPr>
          <a:xfrm>
            <a:off x="7620000" y="10"/>
            <a:ext cx="4572000" cy="6857990"/>
          </a:xfrm>
          <a:prstGeom prst="rect">
            <a:avLst/>
          </a:prstGeom>
          <a:noFill/>
        </p:spPr>
      </p:pic>
    </p:spTree>
    <p:extLst>
      <p:ext uri="{BB962C8B-B14F-4D97-AF65-F5344CB8AC3E}">
        <p14:creationId xmlns:p14="http://schemas.microsoft.com/office/powerpoint/2010/main" val="2918991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A8031-AE02-5731-174A-76D6E4F5E5A8}"/>
              </a:ext>
            </a:extLst>
          </p:cNvPr>
          <p:cNvSpPr>
            <a:spLocks noGrp="1"/>
          </p:cNvSpPr>
          <p:nvPr>
            <p:ph type="title"/>
          </p:nvPr>
        </p:nvSpPr>
        <p:spPr>
          <a:xfrm>
            <a:off x="282087" y="771879"/>
            <a:ext cx="3410958" cy="1532976"/>
          </a:xfrm>
        </p:spPr>
        <p:txBody>
          <a:bodyPr anchor="t">
            <a:normAutofit/>
          </a:bodyPr>
          <a:lstStyle/>
          <a:p>
            <a:r>
              <a:rPr lang="en-US" sz="3600" b="1" dirty="0"/>
              <a:t>Our Solution</a:t>
            </a:r>
          </a:p>
        </p:txBody>
      </p:sp>
      <p:sp>
        <p:nvSpPr>
          <p:cNvPr id="10" name="Content Placeholder 2">
            <a:extLst>
              <a:ext uri="{FF2B5EF4-FFF2-40B4-BE49-F238E27FC236}">
                <a16:creationId xmlns:a16="http://schemas.microsoft.com/office/drawing/2014/main" id="{505BAA84-B66D-BFA3-C25B-D45B80441A9D}"/>
              </a:ext>
            </a:extLst>
          </p:cNvPr>
          <p:cNvSpPr>
            <a:spLocks noGrp="1"/>
          </p:cNvSpPr>
          <p:nvPr>
            <p:ph sz="quarter" idx="14"/>
          </p:nvPr>
        </p:nvSpPr>
        <p:spPr>
          <a:xfrm>
            <a:off x="4726367" y="595454"/>
            <a:ext cx="7010399" cy="2377440"/>
          </a:xfrm>
        </p:spPr>
        <p:txBody>
          <a:bodyPr/>
          <a:lstStyle/>
          <a:p>
            <a:pPr marL="342900" lvl="0" indent="-342900">
              <a:buFont typeface="+mj-lt"/>
              <a:buAutoNum type="arabicPeriod"/>
            </a:pPr>
            <a:r>
              <a:rPr lang="en-US" dirty="0"/>
              <a:t>Collect emissions data. </a:t>
            </a:r>
          </a:p>
          <a:p>
            <a:pPr marL="342900" lvl="0" indent="-342900">
              <a:buFont typeface="+mj-lt"/>
              <a:buAutoNum type="arabicPeriod"/>
            </a:pPr>
            <a:r>
              <a:rPr lang="en-US" dirty="0"/>
              <a:t>Calculate total Carbon Emissions. </a:t>
            </a:r>
          </a:p>
          <a:p>
            <a:pPr marL="342900" lvl="0" indent="-342900">
              <a:buFont typeface="+mj-lt"/>
              <a:buAutoNum type="arabicPeriod"/>
            </a:pPr>
            <a:r>
              <a:rPr lang="en-US" dirty="0"/>
              <a:t>Analyze </a:t>
            </a:r>
            <a:r>
              <a:rPr lang="en-US" b="1" dirty="0"/>
              <a:t>Scope 1, 2 &amp; 3</a:t>
            </a:r>
            <a:r>
              <a:rPr lang="en-US" dirty="0"/>
              <a:t>. </a:t>
            </a:r>
          </a:p>
          <a:p>
            <a:pPr marL="342900" lvl="0" indent="-342900">
              <a:buFont typeface="+mj-lt"/>
              <a:buAutoNum type="arabicPeriod"/>
            </a:pPr>
            <a:r>
              <a:rPr lang="en-US" dirty="0"/>
              <a:t>Rank companies based on emissions. </a:t>
            </a:r>
          </a:p>
          <a:p>
            <a:pPr marL="342900" lvl="0" indent="-342900">
              <a:buFont typeface="+mj-lt"/>
              <a:buAutoNum type="arabicPeriod"/>
            </a:pPr>
            <a:r>
              <a:rPr lang="en-US" dirty="0"/>
              <a:t>Identify the highest-impact companies. </a:t>
            </a:r>
          </a:p>
          <a:p>
            <a:pPr marL="342900" lvl="0" indent="-342900">
              <a:buFont typeface="+mj-lt"/>
              <a:buAutoNum type="arabicPeriod"/>
            </a:pPr>
            <a:r>
              <a:rPr lang="en-US" dirty="0"/>
              <a:t>Detect the major sources of emissions. </a:t>
            </a:r>
          </a:p>
          <a:p>
            <a:pPr marL="342900" lvl="0" indent="-342900">
              <a:buFont typeface="+mj-lt"/>
              <a:buAutoNum type="arabicPeriod"/>
            </a:pPr>
            <a:r>
              <a:rPr lang="en-US" dirty="0"/>
              <a:t>Provide actionable recommendations. </a:t>
            </a:r>
          </a:p>
          <a:p>
            <a:endParaRPr lang="en-US" dirty="0"/>
          </a:p>
        </p:txBody>
      </p:sp>
      <p:pic>
        <p:nvPicPr>
          <p:cNvPr id="6" name="Picture 5" descr="Puzzle">
            <a:extLst>
              <a:ext uri="{FF2B5EF4-FFF2-40B4-BE49-F238E27FC236}">
                <a16:creationId xmlns:a16="http://schemas.microsoft.com/office/drawing/2014/main" id="{6BAAAA82-C737-86D3-A970-FC3D413F6687}"/>
              </a:ext>
            </a:extLst>
          </p:cNvPr>
          <p:cNvPicPr>
            <a:picLocks noChangeAspect="1"/>
          </p:cNvPicPr>
          <p:nvPr/>
        </p:nvPicPr>
        <p:blipFill>
          <a:blip r:embed="rId2"/>
          <a:srcRect t="28485" b="34403"/>
          <a:stretch>
            <a:fillRect/>
          </a:stretch>
        </p:blipFill>
        <p:spPr>
          <a:xfrm>
            <a:off x="20" y="3837709"/>
            <a:ext cx="12191980" cy="3020291"/>
          </a:xfrm>
          <a:prstGeom prst="rect">
            <a:avLst/>
          </a:prstGeom>
          <a:noFill/>
        </p:spPr>
      </p:pic>
    </p:spTree>
    <p:extLst>
      <p:ext uri="{BB962C8B-B14F-4D97-AF65-F5344CB8AC3E}">
        <p14:creationId xmlns:p14="http://schemas.microsoft.com/office/powerpoint/2010/main" val="246498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7A57687-4DB6-AB6F-4943-2EED5BFFD248}"/>
              </a:ext>
            </a:extLst>
          </p:cNvPr>
          <p:cNvSpPr>
            <a:spLocks noGrp="1"/>
          </p:cNvSpPr>
          <p:nvPr>
            <p:ph type="title"/>
          </p:nvPr>
        </p:nvSpPr>
        <p:spPr/>
        <p:txBody>
          <a:bodyPr vert="horz" lIns="91440" tIns="45720" rIns="91440" bIns="45720" rtlCol="0" anchor="b">
            <a:normAutofit/>
          </a:bodyPr>
          <a:lstStyle/>
          <a:p>
            <a:r>
              <a:rPr lang="en-US" b="1" kern="1200" spc="0" baseline="0" dirty="0">
                <a:latin typeface="+mj-lt"/>
                <a:ea typeface="+mj-ea"/>
                <a:cs typeface="+mj-cs"/>
              </a:rPr>
              <a:t>Identifying High-Impact Companies</a:t>
            </a:r>
          </a:p>
        </p:txBody>
      </p:sp>
      <p:graphicFrame>
        <p:nvGraphicFramePr>
          <p:cNvPr id="5" name="Content Placeholder 4">
            <a:extLst>
              <a:ext uri="{FF2B5EF4-FFF2-40B4-BE49-F238E27FC236}">
                <a16:creationId xmlns:a16="http://schemas.microsoft.com/office/drawing/2014/main" id="{9CCC39C1-2A4D-2B7F-14AA-06B8310E2E4A}"/>
              </a:ext>
            </a:extLst>
          </p:cNvPr>
          <p:cNvGraphicFramePr>
            <a:graphicFrameLocks noGrp="1"/>
          </p:cNvGraphicFramePr>
          <p:nvPr>
            <p:ph sz="quarter" idx="18"/>
            <p:extLst>
              <p:ext uri="{D42A27DB-BD31-4B8C-83A1-F6EECF244321}">
                <p14:modId xmlns:p14="http://schemas.microsoft.com/office/powerpoint/2010/main" val="2364680806"/>
              </p:ext>
            </p:extLst>
          </p:nvPr>
        </p:nvGraphicFramePr>
        <p:xfrm>
          <a:off x="6723891" y="2327492"/>
          <a:ext cx="4991101" cy="3544456"/>
        </p:xfrm>
        <a:graphic>
          <a:graphicData uri="http://schemas.openxmlformats.org/drawingml/2006/table">
            <a:tbl>
              <a:tblPr>
                <a:tableStyleId>{5C22544A-7EE6-4342-B048-85BDC9FD1C3A}</a:tableStyleId>
              </a:tblPr>
              <a:tblGrid>
                <a:gridCol w="1692874">
                  <a:extLst>
                    <a:ext uri="{9D8B030D-6E8A-4147-A177-3AD203B41FA5}">
                      <a16:colId xmlns:a16="http://schemas.microsoft.com/office/drawing/2014/main" val="1549561249"/>
                    </a:ext>
                  </a:extLst>
                </a:gridCol>
                <a:gridCol w="1776225">
                  <a:extLst>
                    <a:ext uri="{9D8B030D-6E8A-4147-A177-3AD203B41FA5}">
                      <a16:colId xmlns:a16="http://schemas.microsoft.com/office/drawing/2014/main" val="1926829819"/>
                    </a:ext>
                  </a:extLst>
                </a:gridCol>
                <a:gridCol w="1522002">
                  <a:extLst>
                    <a:ext uri="{9D8B030D-6E8A-4147-A177-3AD203B41FA5}">
                      <a16:colId xmlns:a16="http://schemas.microsoft.com/office/drawing/2014/main" val="876444819"/>
                    </a:ext>
                  </a:extLst>
                </a:gridCol>
              </a:tblGrid>
              <a:tr h="886114">
                <a:tc>
                  <a:txBody>
                    <a:bodyPr/>
                    <a:lstStyle/>
                    <a:p>
                      <a:pPr>
                        <a:buNone/>
                      </a:pPr>
                      <a:r>
                        <a:rPr lang="en-US" sz="2400"/>
                        <a:t>Company</a:t>
                      </a:r>
                    </a:p>
                  </a:txBody>
                  <a:tcPr marL="117941" marR="117941" marT="58971" marB="58971" anchor="ctr"/>
                </a:tc>
                <a:tc>
                  <a:txBody>
                    <a:bodyPr/>
                    <a:lstStyle/>
                    <a:p>
                      <a:pPr>
                        <a:buNone/>
                      </a:pPr>
                      <a:r>
                        <a:rPr lang="en-US" sz="2400"/>
                        <a:t>Emissions</a:t>
                      </a:r>
                    </a:p>
                  </a:txBody>
                  <a:tcPr marL="117941" marR="117941" marT="58971" marB="58971" anchor="ctr"/>
                </a:tc>
                <a:tc>
                  <a:txBody>
                    <a:bodyPr/>
                    <a:lstStyle/>
                    <a:p>
                      <a:pPr>
                        <a:buNone/>
                      </a:pPr>
                      <a:r>
                        <a:rPr lang="en-US" sz="2400"/>
                        <a:t>Impact Level</a:t>
                      </a:r>
                    </a:p>
                  </a:txBody>
                  <a:tcPr marL="117941" marR="117941" marT="58971" marB="58971" anchor="ctr"/>
                </a:tc>
                <a:extLst>
                  <a:ext uri="{0D108BD9-81ED-4DB2-BD59-A6C34878D82A}">
                    <a16:rowId xmlns:a16="http://schemas.microsoft.com/office/drawing/2014/main" val="2533946024"/>
                  </a:ext>
                </a:extLst>
              </a:tr>
              <a:tr h="886114">
                <a:tc>
                  <a:txBody>
                    <a:bodyPr/>
                    <a:lstStyle/>
                    <a:p>
                      <a:pPr>
                        <a:buNone/>
                      </a:pPr>
                      <a:r>
                        <a:rPr lang="en-US" sz="2400"/>
                        <a:t>Company A</a:t>
                      </a:r>
                    </a:p>
                  </a:txBody>
                  <a:tcPr marL="117941" marR="117941" marT="58971" marB="58971" anchor="ctr"/>
                </a:tc>
                <a:tc>
                  <a:txBody>
                    <a:bodyPr/>
                    <a:lstStyle/>
                    <a:p>
                      <a:pPr>
                        <a:buNone/>
                      </a:pPr>
                      <a:r>
                        <a:rPr lang="en-US" sz="2400"/>
                        <a:t>120,000 tCO₂e</a:t>
                      </a:r>
                    </a:p>
                  </a:txBody>
                  <a:tcPr marL="117941" marR="117941" marT="58971" marB="58971" anchor="ctr"/>
                </a:tc>
                <a:tc>
                  <a:txBody>
                    <a:bodyPr/>
                    <a:lstStyle/>
                    <a:p>
                      <a:pPr>
                        <a:buNone/>
                      </a:pPr>
                      <a:r>
                        <a:rPr lang="en-US" sz="2400"/>
                        <a:t>🔴 High</a:t>
                      </a:r>
                    </a:p>
                  </a:txBody>
                  <a:tcPr marL="117941" marR="117941" marT="58971" marB="58971" anchor="ctr"/>
                </a:tc>
                <a:extLst>
                  <a:ext uri="{0D108BD9-81ED-4DB2-BD59-A6C34878D82A}">
                    <a16:rowId xmlns:a16="http://schemas.microsoft.com/office/drawing/2014/main" val="4112844195"/>
                  </a:ext>
                </a:extLst>
              </a:tr>
              <a:tr h="886114">
                <a:tc>
                  <a:txBody>
                    <a:bodyPr/>
                    <a:lstStyle/>
                    <a:p>
                      <a:pPr>
                        <a:buNone/>
                      </a:pPr>
                      <a:r>
                        <a:rPr lang="en-US" sz="2400"/>
                        <a:t>Company B</a:t>
                      </a:r>
                    </a:p>
                  </a:txBody>
                  <a:tcPr marL="117941" marR="117941" marT="58971" marB="58971" anchor="ctr"/>
                </a:tc>
                <a:tc>
                  <a:txBody>
                    <a:bodyPr/>
                    <a:lstStyle/>
                    <a:p>
                      <a:pPr>
                        <a:buNone/>
                      </a:pPr>
                      <a:r>
                        <a:rPr lang="en-US" sz="2400"/>
                        <a:t>75,000 tCO₂e</a:t>
                      </a:r>
                    </a:p>
                  </a:txBody>
                  <a:tcPr marL="117941" marR="117941" marT="58971" marB="58971" anchor="ctr"/>
                </a:tc>
                <a:tc>
                  <a:txBody>
                    <a:bodyPr/>
                    <a:lstStyle/>
                    <a:p>
                      <a:pPr>
                        <a:buNone/>
                      </a:pPr>
                      <a:r>
                        <a:rPr lang="en-US" sz="2400"/>
                        <a:t>🟠 Medium</a:t>
                      </a:r>
                    </a:p>
                  </a:txBody>
                  <a:tcPr marL="117941" marR="117941" marT="58971" marB="58971" anchor="ctr"/>
                </a:tc>
                <a:extLst>
                  <a:ext uri="{0D108BD9-81ED-4DB2-BD59-A6C34878D82A}">
                    <a16:rowId xmlns:a16="http://schemas.microsoft.com/office/drawing/2014/main" val="2956040452"/>
                  </a:ext>
                </a:extLst>
              </a:tr>
              <a:tr h="886114">
                <a:tc>
                  <a:txBody>
                    <a:bodyPr/>
                    <a:lstStyle/>
                    <a:p>
                      <a:pPr>
                        <a:buNone/>
                      </a:pPr>
                      <a:r>
                        <a:rPr lang="en-US" sz="2400"/>
                        <a:t>Company C</a:t>
                      </a:r>
                    </a:p>
                  </a:txBody>
                  <a:tcPr marL="117941" marR="117941" marT="58971" marB="58971" anchor="ctr"/>
                </a:tc>
                <a:tc>
                  <a:txBody>
                    <a:bodyPr/>
                    <a:lstStyle/>
                    <a:p>
                      <a:pPr>
                        <a:buNone/>
                      </a:pPr>
                      <a:r>
                        <a:rPr lang="en-US" sz="2400"/>
                        <a:t>25,000 tCO₂e</a:t>
                      </a:r>
                    </a:p>
                  </a:txBody>
                  <a:tcPr marL="117941" marR="117941" marT="58971" marB="58971" anchor="ctr"/>
                </a:tc>
                <a:tc>
                  <a:txBody>
                    <a:bodyPr/>
                    <a:lstStyle/>
                    <a:p>
                      <a:pPr>
                        <a:buNone/>
                      </a:pPr>
                      <a:r>
                        <a:rPr lang="en-US" sz="2400" dirty="0"/>
                        <a:t>🟢 Low</a:t>
                      </a:r>
                    </a:p>
                  </a:txBody>
                  <a:tcPr marL="117941" marR="117941" marT="58971" marB="58971" anchor="ctr"/>
                </a:tc>
                <a:extLst>
                  <a:ext uri="{0D108BD9-81ED-4DB2-BD59-A6C34878D82A}">
                    <a16:rowId xmlns:a16="http://schemas.microsoft.com/office/drawing/2014/main" val="1371392391"/>
                  </a:ext>
                </a:extLst>
              </a:tr>
            </a:tbl>
          </a:graphicData>
        </a:graphic>
      </p:graphicFrame>
      <p:sp>
        <p:nvSpPr>
          <p:cNvPr id="7" name="TextBox 6">
            <a:extLst>
              <a:ext uri="{FF2B5EF4-FFF2-40B4-BE49-F238E27FC236}">
                <a16:creationId xmlns:a16="http://schemas.microsoft.com/office/drawing/2014/main" id="{EE0DC68B-2382-1637-123E-2A074FD5C362}"/>
              </a:ext>
            </a:extLst>
          </p:cNvPr>
          <p:cNvSpPr txBox="1"/>
          <p:nvPr/>
        </p:nvSpPr>
        <p:spPr>
          <a:xfrm>
            <a:off x="301625" y="1806575"/>
            <a:ext cx="5165725" cy="4586288"/>
          </a:xfrm>
          <a:prstGeom prst="rect">
            <a:avLst/>
          </a:prstGeom>
        </p:spPr>
        <p:txBody>
          <a:bodyPr vert="horz" lIns="91440" tIns="45720" rIns="91440" bIns="45720" rtlCol="0">
            <a:normAutofit/>
          </a:bodyPr>
          <a:lstStyle/>
          <a:p>
            <a:pPr>
              <a:lnSpc>
                <a:spcPct val="120000"/>
              </a:lnSpc>
              <a:spcBef>
                <a:spcPts val="1000"/>
              </a:spcBef>
            </a:pPr>
            <a:r>
              <a:rPr lang="en-US" sz="2000" dirty="0"/>
              <a:t>The platform ranks companies according to their environmental impact using:</a:t>
            </a:r>
          </a:p>
          <a:p>
            <a:pPr lvl="0">
              <a:lnSpc>
                <a:spcPct val="120000"/>
              </a:lnSpc>
              <a:spcBef>
                <a:spcPts val="1000"/>
              </a:spcBef>
            </a:pPr>
            <a:r>
              <a:rPr lang="en-US" sz="2000" b="1" dirty="0"/>
              <a:t>Total Carbon Emissions</a:t>
            </a:r>
            <a:r>
              <a:rPr lang="en-US" sz="2000" dirty="0"/>
              <a:t> </a:t>
            </a:r>
          </a:p>
          <a:p>
            <a:pPr lvl="0">
              <a:lnSpc>
                <a:spcPct val="120000"/>
              </a:lnSpc>
              <a:spcBef>
                <a:spcPts val="1000"/>
              </a:spcBef>
            </a:pPr>
            <a:r>
              <a:rPr lang="en-US" sz="2000" dirty="0"/>
              <a:t>Emissions by </a:t>
            </a:r>
            <a:r>
              <a:rPr lang="en-US" sz="2000" b="1" dirty="0"/>
              <a:t>Scope</a:t>
            </a:r>
            <a:r>
              <a:rPr lang="en-US" sz="2000" dirty="0"/>
              <a:t> </a:t>
            </a:r>
          </a:p>
          <a:p>
            <a:pPr lvl="0">
              <a:lnSpc>
                <a:spcPct val="120000"/>
              </a:lnSpc>
              <a:spcBef>
                <a:spcPts val="1000"/>
              </a:spcBef>
            </a:pPr>
            <a:r>
              <a:rPr lang="en-US" sz="2000" dirty="0"/>
              <a:t>Emissions intensity </a:t>
            </a:r>
          </a:p>
          <a:p>
            <a:pPr lvl="0">
              <a:lnSpc>
                <a:spcPct val="120000"/>
              </a:lnSpc>
              <a:spcBef>
                <a:spcPts val="1000"/>
              </a:spcBef>
            </a:pPr>
            <a:r>
              <a:rPr lang="en-US" sz="2000" dirty="0"/>
              <a:t>Historical emission trends </a:t>
            </a:r>
          </a:p>
          <a:p>
            <a:pPr lvl="0">
              <a:lnSpc>
                <a:spcPct val="120000"/>
              </a:lnSpc>
              <a:spcBef>
                <a:spcPts val="1000"/>
              </a:spcBef>
            </a:pPr>
            <a:r>
              <a:rPr lang="en-US" sz="2000" dirty="0"/>
              <a:t>Industry characteristics </a:t>
            </a:r>
          </a:p>
          <a:p>
            <a:pPr lvl="0">
              <a:lnSpc>
                <a:spcPct val="120000"/>
              </a:lnSpc>
              <a:spcBef>
                <a:spcPts val="1000"/>
              </a:spcBef>
            </a:pPr>
            <a:r>
              <a:rPr lang="en-US" sz="2000" dirty="0"/>
              <a:t>Environmental performance </a:t>
            </a:r>
          </a:p>
        </p:txBody>
      </p:sp>
    </p:spTree>
    <p:extLst>
      <p:ext uri="{BB962C8B-B14F-4D97-AF65-F5344CB8AC3E}">
        <p14:creationId xmlns:p14="http://schemas.microsoft.com/office/powerpoint/2010/main" val="1637760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5826-EFB6-8108-74D0-FD7CFACB810B}"/>
              </a:ext>
            </a:extLst>
          </p:cNvPr>
          <p:cNvSpPr>
            <a:spLocks noGrp="1"/>
          </p:cNvSpPr>
          <p:nvPr>
            <p:ph type="title"/>
          </p:nvPr>
        </p:nvSpPr>
        <p:spPr/>
        <p:txBody>
          <a:bodyPr anchor="b">
            <a:normAutofit/>
          </a:bodyPr>
          <a:lstStyle/>
          <a:p>
            <a:r>
              <a:rPr lang="en-US" b="1" dirty="0"/>
              <a:t>From Emissions to Financing Decisions</a:t>
            </a:r>
          </a:p>
        </p:txBody>
      </p:sp>
      <p:graphicFrame>
        <p:nvGraphicFramePr>
          <p:cNvPr id="6" name="Content Placeholder 3">
            <a:extLst>
              <a:ext uri="{FF2B5EF4-FFF2-40B4-BE49-F238E27FC236}">
                <a16:creationId xmlns:a16="http://schemas.microsoft.com/office/drawing/2014/main" id="{C9C58577-12F1-6ABB-8095-41E075343420}"/>
              </a:ext>
            </a:extLst>
          </p:cNvPr>
          <p:cNvGraphicFramePr>
            <a:graphicFrameLocks noGrp="1"/>
          </p:cNvGraphicFramePr>
          <p:nvPr>
            <p:ph sz="quarter" idx="18"/>
            <p:extLst>
              <p:ext uri="{D42A27DB-BD31-4B8C-83A1-F6EECF244321}">
                <p14:modId xmlns:p14="http://schemas.microsoft.com/office/powerpoint/2010/main" val="197622852"/>
              </p:ext>
            </p:extLst>
          </p:nvPr>
        </p:nvGraphicFramePr>
        <p:xfrm>
          <a:off x="301625" y="1806575"/>
          <a:ext cx="5165725" cy="4586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92351EFC-8362-27DB-268D-0EB1283CB328}"/>
              </a:ext>
            </a:extLst>
          </p:cNvPr>
          <p:cNvSpPr>
            <a:spLocks noGrp="1"/>
          </p:cNvSpPr>
          <p:nvPr>
            <p:ph sz="quarter" idx="19"/>
          </p:nvPr>
        </p:nvSpPr>
        <p:spPr/>
        <p:txBody>
          <a:bodyPr>
            <a:noAutofit/>
          </a:bodyPr>
          <a:lstStyle/>
          <a:p>
            <a:r>
              <a:rPr lang="en-US" sz="1600" b="1" dirty="0"/>
              <a:t>Content:</a:t>
            </a:r>
          </a:p>
          <a:p>
            <a:pPr marL="285750" indent="-285750">
              <a:buFont typeface="Wingdings" panose="05000000000000000000" pitchFamily="2" charset="2"/>
              <a:buChar char="Ø"/>
            </a:pPr>
            <a:r>
              <a:rPr lang="en-US" sz="1600" dirty="0"/>
              <a:t>The platform helps financial institutions </a:t>
            </a:r>
            <a:r>
              <a:rPr lang="en-US" sz="1600" b="1" dirty="0"/>
              <a:t>prioritize financing and support</a:t>
            </a:r>
            <a:r>
              <a:rPr lang="en-US" sz="1600" dirty="0"/>
              <a:t> based on environmental impact</a:t>
            </a:r>
          </a:p>
          <a:p>
            <a:r>
              <a:rPr lang="en-US" sz="1600" b="1" dirty="0"/>
              <a:t>High Emissions</a:t>
            </a:r>
            <a:br>
              <a:rPr lang="en-US" sz="1600" dirty="0"/>
            </a:br>
            <a:r>
              <a:rPr lang="en-US" sz="1600" dirty="0"/>
              <a:t>↓</a:t>
            </a:r>
            <a:br>
              <a:rPr lang="en-US" sz="1600" dirty="0"/>
            </a:br>
            <a:r>
              <a:rPr lang="en-US" sz="1600" b="1" dirty="0"/>
              <a:t>High Priority</a:t>
            </a:r>
            <a:br>
              <a:rPr lang="en-US" sz="1600" dirty="0"/>
            </a:br>
            <a:r>
              <a:rPr lang="en-US" sz="1600" dirty="0"/>
              <a:t>↓</a:t>
            </a:r>
            <a:br>
              <a:rPr lang="en-US" sz="1600" dirty="0"/>
            </a:br>
            <a:r>
              <a:rPr lang="en-US" sz="1600" b="1" dirty="0"/>
              <a:t>Assessment &amp; Recommendations</a:t>
            </a:r>
            <a:br>
              <a:rPr lang="en-US" sz="1600" dirty="0"/>
            </a:br>
            <a:r>
              <a:rPr lang="en-US" sz="1600" dirty="0"/>
              <a:t>↓</a:t>
            </a:r>
            <a:br>
              <a:rPr lang="en-US" sz="1600" dirty="0"/>
            </a:br>
            <a:r>
              <a:rPr lang="en-US" sz="1600" b="1" dirty="0"/>
              <a:t>Targeted Financing / Support</a:t>
            </a:r>
            <a:br>
              <a:rPr lang="en-US" sz="1600" dirty="0"/>
            </a:br>
            <a:r>
              <a:rPr lang="en-US" sz="1600" dirty="0"/>
              <a:t>↓</a:t>
            </a:r>
            <a:br>
              <a:rPr lang="en-US" sz="1600" dirty="0"/>
            </a:br>
            <a:r>
              <a:rPr lang="en-US" sz="1600" b="1" dirty="0"/>
              <a:t>Emission Reduction Projects</a:t>
            </a:r>
            <a:br>
              <a:rPr lang="en-US" sz="1600" dirty="0"/>
            </a:br>
            <a:r>
              <a:rPr lang="en-US" sz="1600" dirty="0"/>
              <a:t>↓</a:t>
            </a:r>
            <a:br>
              <a:rPr lang="en-US" sz="1600" dirty="0"/>
            </a:br>
            <a:r>
              <a:rPr lang="en-US" sz="1600" b="1" dirty="0"/>
              <a:t>Lower Emission</a:t>
            </a:r>
            <a:endParaRPr lang="en-US" sz="1600" dirty="0"/>
          </a:p>
        </p:txBody>
      </p:sp>
    </p:spTree>
    <p:extLst>
      <p:ext uri="{BB962C8B-B14F-4D97-AF65-F5344CB8AC3E}">
        <p14:creationId xmlns:p14="http://schemas.microsoft.com/office/powerpoint/2010/main" val="656622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A82D1-3266-12A8-051B-726E83D97422}"/>
              </a:ext>
            </a:extLst>
          </p:cNvPr>
          <p:cNvSpPr>
            <a:spLocks noGrp="1"/>
          </p:cNvSpPr>
          <p:nvPr>
            <p:ph type="title"/>
          </p:nvPr>
        </p:nvSpPr>
        <p:spPr/>
        <p:txBody>
          <a:bodyPr anchor="b">
            <a:normAutofit/>
          </a:bodyPr>
          <a:lstStyle/>
          <a:p>
            <a:r>
              <a:rPr lang="en-US" dirty="0"/>
              <a:t>AI &amp; Predictive Analytics</a:t>
            </a:r>
          </a:p>
        </p:txBody>
      </p:sp>
      <p:sp>
        <p:nvSpPr>
          <p:cNvPr id="3" name="Content Placeholder 2">
            <a:extLst>
              <a:ext uri="{FF2B5EF4-FFF2-40B4-BE49-F238E27FC236}">
                <a16:creationId xmlns:a16="http://schemas.microsoft.com/office/drawing/2014/main" id="{7174F2E5-B8DC-BB2F-270C-B7EB7509A663}"/>
              </a:ext>
            </a:extLst>
          </p:cNvPr>
          <p:cNvSpPr>
            <a:spLocks noGrp="1"/>
          </p:cNvSpPr>
          <p:nvPr>
            <p:ph sz="quarter" idx="18"/>
          </p:nvPr>
        </p:nvSpPr>
        <p:spPr/>
        <p:txBody>
          <a:bodyPr>
            <a:normAutofit/>
          </a:bodyPr>
          <a:lstStyle/>
          <a:p>
            <a:r>
              <a:rPr lang="en-US" b="1"/>
              <a:t>Content:</a:t>
            </a:r>
          </a:p>
          <a:p>
            <a:r>
              <a:rPr lang="en-US"/>
              <a:t>The platform can use historical emissions data to:</a:t>
            </a:r>
          </a:p>
          <a:p>
            <a:pPr lvl="0"/>
            <a:r>
              <a:rPr lang="en-US"/>
              <a:t>Forecast future carbon emissions. </a:t>
            </a:r>
          </a:p>
          <a:p>
            <a:pPr lvl="0"/>
            <a:r>
              <a:rPr lang="en-US"/>
              <a:t>Identify companies at risk of increasing emissions. </a:t>
            </a:r>
          </a:p>
          <a:p>
            <a:pPr lvl="0"/>
            <a:r>
              <a:rPr lang="en-US"/>
              <a:t>Detect abnormal emission trends. </a:t>
            </a:r>
          </a:p>
          <a:p>
            <a:pPr lvl="0"/>
            <a:r>
              <a:rPr lang="en-US"/>
              <a:t>Estimate potential emission reductions. </a:t>
            </a:r>
          </a:p>
          <a:p>
            <a:pPr lvl="0"/>
            <a:r>
              <a:rPr lang="en-US"/>
              <a:t>Recommend priority areas for intervention</a:t>
            </a:r>
            <a:r>
              <a:rPr lang="en-US" dirty="0"/>
              <a:t>. </a:t>
            </a:r>
          </a:p>
          <a:p>
            <a:endParaRPr lang="en-US" dirty="0"/>
          </a:p>
        </p:txBody>
      </p:sp>
      <p:graphicFrame>
        <p:nvGraphicFramePr>
          <p:cNvPr id="6" name="Content Placeholder 3">
            <a:extLst>
              <a:ext uri="{FF2B5EF4-FFF2-40B4-BE49-F238E27FC236}">
                <a16:creationId xmlns:a16="http://schemas.microsoft.com/office/drawing/2014/main" id="{8206EFCD-6B89-66EF-5A2A-3339FF952897}"/>
              </a:ext>
            </a:extLst>
          </p:cNvPr>
          <p:cNvGraphicFramePr>
            <a:graphicFrameLocks noGrp="1"/>
          </p:cNvGraphicFramePr>
          <p:nvPr>
            <p:ph sz="quarter" idx="19"/>
            <p:extLst>
              <p:ext uri="{D42A27DB-BD31-4B8C-83A1-F6EECF244321}">
                <p14:modId xmlns:p14="http://schemas.microsoft.com/office/powerpoint/2010/main" val="3935903170"/>
              </p:ext>
            </p:extLst>
          </p:nvPr>
        </p:nvGraphicFramePr>
        <p:xfrm>
          <a:off x="6724650" y="1806575"/>
          <a:ext cx="4991100" cy="4586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274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629CF9A-EBBF-DD4C-2BCA-0074339835E7}"/>
              </a:ext>
            </a:extLst>
          </p:cNvPr>
          <p:cNvSpPr>
            <a:spLocks noGrp="1"/>
          </p:cNvSpPr>
          <p:nvPr>
            <p:ph type="title"/>
          </p:nvPr>
        </p:nvSpPr>
        <p:spPr>
          <a:xfrm>
            <a:off x="123849" y="78294"/>
            <a:ext cx="3332784" cy="1581912"/>
          </a:xfrm>
        </p:spPr>
        <p:txBody>
          <a:bodyPr anchor="b">
            <a:normAutofit/>
          </a:bodyPr>
          <a:lstStyle/>
          <a:p>
            <a:r>
              <a:rPr lang="en-US" dirty="0"/>
              <a:t>Business &amp; Environmental Impact</a:t>
            </a:r>
          </a:p>
        </p:txBody>
      </p:sp>
      <p:sp>
        <p:nvSpPr>
          <p:cNvPr id="19" name="Content Placeholder 2">
            <a:extLst>
              <a:ext uri="{FF2B5EF4-FFF2-40B4-BE49-F238E27FC236}">
                <a16:creationId xmlns:a16="http://schemas.microsoft.com/office/drawing/2014/main" id="{E4489FC5-EEB1-8D95-18CC-FCDA666711A5}"/>
              </a:ext>
            </a:extLst>
          </p:cNvPr>
          <p:cNvSpPr>
            <a:spLocks noGrp="1"/>
          </p:cNvSpPr>
          <p:nvPr>
            <p:ph sz="quarter" idx="14"/>
          </p:nvPr>
        </p:nvSpPr>
        <p:spPr>
          <a:xfrm>
            <a:off x="0" y="1758462"/>
            <a:ext cx="4444181" cy="5099537"/>
          </a:xfrm>
        </p:spPr>
        <p:txBody>
          <a:bodyPr>
            <a:normAutofit/>
          </a:bodyPr>
          <a:lstStyle/>
          <a:p>
            <a:r>
              <a:rPr lang="en-US" sz="1600" b="1" dirty="0"/>
              <a:t>🌱 Environmental Impact                                                             </a:t>
            </a:r>
          </a:p>
          <a:p>
            <a:pPr marL="285750" lvl="0" indent="-285750">
              <a:buFont typeface="Arial" panose="020B0604020202020204" pitchFamily="34" charset="0"/>
              <a:buChar char="•"/>
            </a:pPr>
            <a:r>
              <a:rPr lang="en-US" sz="1600" dirty="0"/>
              <a:t>Reduce corporate carbon emissions. </a:t>
            </a:r>
          </a:p>
          <a:p>
            <a:pPr marL="285750" lvl="0" indent="-285750">
              <a:buFont typeface="Arial" panose="020B0604020202020204" pitchFamily="34" charset="0"/>
              <a:buChar char="•"/>
            </a:pPr>
            <a:r>
              <a:rPr lang="en-US" sz="1600" dirty="0"/>
              <a:t>Support cleaner technologies. </a:t>
            </a:r>
          </a:p>
          <a:p>
            <a:pPr marL="285750" lvl="0" indent="-285750">
              <a:buFont typeface="Arial" panose="020B0604020202020204" pitchFamily="34" charset="0"/>
              <a:buChar char="•"/>
            </a:pPr>
            <a:r>
              <a:rPr lang="en-US" sz="1600" dirty="0"/>
              <a:t>Encourage sustainable business practices. </a:t>
            </a:r>
          </a:p>
          <a:p>
            <a:pPr marL="285750" lvl="0" indent="-285750">
              <a:buFont typeface="Arial" panose="020B0604020202020204" pitchFamily="34" charset="0"/>
              <a:buChar char="•"/>
            </a:pPr>
            <a:r>
              <a:rPr lang="en-US" sz="1600" dirty="0"/>
              <a:t>Track progress toward emission reduction. </a:t>
            </a:r>
          </a:p>
          <a:p>
            <a:r>
              <a:rPr lang="en-US" sz="1600" b="1" dirty="0"/>
              <a:t>💰 Financial Impact</a:t>
            </a:r>
          </a:p>
          <a:p>
            <a:pPr marL="285750" lvl="0" indent="-285750">
              <a:buFont typeface="Arial" panose="020B0604020202020204" pitchFamily="34" charset="0"/>
              <a:buChar char="•"/>
            </a:pPr>
            <a:r>
              <a:rPr lang="en-US" sz="1600" dirty="0"/>
              <a:t>Better allocation of sustainable financing. </a:t>
            </a:r>
          </a:p>
          <a:p>
            <a:pPr marL="285750" lvl="0" indent="-285750">
              <a:buFont typeface="Arial" panose="020B0604020202020204" pitchFamily="34" charset="0"/>
              <a:buChar char="•"/>
            </a:pPr>
            <a:r>
              <a:rPr lang="en-US" sz="1600" dirty="0"/>
              <a:t>Identify high-impact investment opportunities. </a:t>
            </a:r>
          </a:p>
          <a:p>
            <a:pPr marL="285750" lvl="0" indent="-285750">
              <a:buFont typeface="Arial" panose="020B0604020202020204" pitchFamily="34" charset="0"/>
              <a:buChar char="•"/>
            </a:pPr>
            <a:r>
              <a:rPr lang="en-US" sz="1600" dirty="0"/>
              <a:t>Reduce financing risks. </a:t>
            </a:r>
          </a:p>
          <a:p>
            <a:pPr marL="285750" lvl="0" indent="-285750">
              <a:buFont typeface="Arial" panose="020B0604020202020204" pitchFamily="34" charset="0"/>
              <a:buChar char="•"/>
            </a:pPr>
            <a:r>
              <a:rPr lang="en-US" sz="1600" dirty="0"/>
              <a:t>Support long-term sustainable growth. </a:t>
            </a:r>
          </a:p>
          <a:p>
            <a:r>
              <a:rPr lang="en-US" sz="1600" dirty="0"/>
              <a:t>. </a:t>
            </a:r>
          </a:p>
          <a:p>
            <a:endParaRPr lang="en-US" dirty="0"/>
          </a:p>
        </p:txBody>
      </p:sp>
      <p:pic>
        <p:nvPicPr>
          <p:cNvPr id="15" name="Picture 14" descr="Pipes over the sea">
            <a:extLst>
              <a:ext uri="{FF2B5EF4-FFF2-40B4-BE49-F238E27FC236}">
                <a16:creationId xmlns:a16="http://schemas.microsoft.com/office/drawing/2014/main" id="{3EA91BF5-D388-885A-3F9A-2C7B351A7CFF}"/>
              </a:ext>
            </a:extLst>
          </p:cNvPr>
          <p:cNvPicPr>
            <a:picLocks noChangeAspect="1"/>
          </p:cNvPicPr>
          <p:nvPr/>
        </p:nvPicPr>
        <p:blipFill>
          <a:blip r:embed="rId2"/>
          <a:srcRect l="2345" r="9738"/>
          <a:stretch>
            <a:fillRect/>
          </a:stretch>
        </p:blipFill>
        <p:spPr>
          <a:xfrm>
            <a:off x="7033846" y="10"/>
            <a:ext cx="5158154" cy="6857990"/>
          </a:xfrm>
          <a:prstGeom prst="rect">
            <a:avLst/>
          </a:prstGeom>
          <a:noFill/>
        </p:spPr>
      </p:pic>
      <p:sp>
        <p:nvSpPr>
          <p:cNvPr id="6" name="TextBox 5">
            <a:extLst>
              <a:ext uri="{FF2B5EF4-FFF2-40B4-BE49-F238E27FC236}">
                <a16:creationId xmlns:a16="http://schemas.microsoft.com/office/drawing/2014/main" id="{C800C01A-E47B-9E86-F256-997CFC106ED4}"/>
              </a:ext>
            </a:extLst>
          </p:cNvPr>
          <p:cNvSpPr txBox="1"/>
          <p:nvPr/>
        </p:nvSpPr>
        <p:spPr>
          <a:xfrm>
            <a:off x="4444181" y="2300748"/>
            <a:ext cx="2589665" cy="3416320"/>
          </a:xfrm>
          <a:prstGeom prst="rect">
            <a:avLst/>
          </a:prstGeom>
          <a:noFill/>
        </p:spPr>
        <p:txBody>
          <a:bodyPr wrap="square" rtlCol="0">
            <a:spAutoFit/>
          </a:bodyPr>
          <a:lstStyle/>
          <a:p>
            <a:r>
              <a:rPr lang="en-US" b="1"/>
              <a:t>🏦 Strategic Impact</a:t>
            </a:r>
          </a:p>
          <a:p>
            <a:pPr marL="285750" lvl="0" indent="-285750">
              <a:buFont typeface="Arial" panose="020B0604020202020204" pitchFamily="34" charset="0"/>
              <a:buChar char="•"/>
            </a:pPr>
            <a:r>
              <a:rPr lang="en-US"/>
              <a:t>Data-driven decision making. </a:t>
            </a:r>
          </a:p>
          <a:p>
            <a:pPr marL="285750" lvl="0" indent="-285750">
              <a:buFont typeface="Arial" panose="020B0604020202020204" pitchFamily="34" charset="0"/>
              <a:buChar char="•"/>
            </a:pPr>
            <a:r>
              <a:rPr lang="en-US"/>
              <a:t>Environmental risk assessment. </a:t>
            </a:r>
          </a:p>
          <a:p>
            <a:pPr marL="285750" lvl="0" indent="-285750">
              <a:buFont typeface="Arial" panose="020B0604020202020204" pitchFamily="34" charset="0"/>
              <a:buChar char="•"/>
            </a:pPr>
            <a:r>
              <a:rPr lang="en-US"/>
              <a:t>Corporate sustainability monitoring. </a:t>
            </a:r>
          </a:p>
          <a:p>
            <a:pPr marL="285750" lvl="0" indent="-285750">
              <a:buFont typeface="Arial" panose="020B0604020202020204" pitchFamily="34" charset="0"/>
              <a:buChar char="•"/>
            </a:pPr>
            <a:r>
              <a:rPr lang="en-US"/>
              <a:t>Better ESG performance. </a:t>
            </a:r>
          </a:p>
          <a:p>
            <a:pPr marL="285750" lvl="0" indent="-285750">
              <a:buFont typeface="Arial" panose="020B0604020202020204" pitchFamily="34" charset="0"/>
              <a:buChar char="•"/>
            </a:pPr>
            <a:r>
              <a:rPr lang="en-US"/>
              <a:t>Support sustainable finance strategy</a:t>
            </a:r>
            <a:endParaRPr lang="en-US" dirty="0"/>
          </a:p>
        </p:txBody>
      </p:sp>
    </p:spTree>
    <p:extLst>
      <p:ext uri="{BB962C8B-B14F-4D97-AF65-F5344CB8AC3E}">
        <p14:creationId xmlns:p14="http://schemas.microsoft.com/office/powerpoint/2010/main" val="2096979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7DD0C2-7A20-D4DB-FCD6-EF7C4B176252}"/>
              </a:ext>
            </a:extLst>
          </p:cNvPr>
          <p:cNvSpPr txBox="1"/>
          <p:nvPr/>
        </p:nvSpPr>
        <p:spPr>
          <a:xfrm>
            <a:off x="274320" y="2704946"/>
            <a:ext cx="9801225" cy="3538538"/>
          </a:xfrm>
          <a:prstGeom prst="rect">
            <a:avLst/>
          </a:prstGeom>
        </p:spPr>
        <p:txBody>
          <a:bodyPr vert="horz" lIns="91440" tIns="45720" rIns="91440" bIns="45720" rtlCol="0" anchor="b">
            <a:normAutofit/>
          </a:bodyPr>
          <a:lstStyle/>
          <a:p>
            <a:pPr>
              <a:lnSpc>
                <a:spcPct val="90000"/>
              </a:lnSpc>
              <a:spcBef>
                <a:spcPts val="1000"/>
              </a:spcBef>
            </a:pPr>
            <a:r>
              <a:rPr lang="en-US" sz="3400" b="1" i="0">
                <a:effectLst/>
              </a:rPr>
              <a:t>Name:</a:t>
            </a:r>
            <a:r>
              <a:rPr lang="en-US" sz="3400" i="0">
                <a:effectLst/>
              </a:rPr>
              <a:t>Hania</a:t>
            </a:r>
            <a:r>
              <a:rPr lang="en-US" sz="3400" b="0" i="0">
                <a:effectLst/>
              </a:rPr>
              <a:t> Hussein </a:t>
            </a:r>
          </a:p>
          <a:p>
            <a:pPr>
              <a:lnSpc>
                <a:spcPct val="90000"/>
              </a:lnSpc>
              <a:spcBef>
                <a:spcPts val="1000"/>
              </a:spcBef>
            </a:pPr>
            <a:endParaRPr lang="en-US" sz="3400" b="0" i="0">
              <a:effectLst/>
            </a:endParaRPr>
          </a:p>
          <a:p>
            <a:pPr>
              <a:lnSpc>
                <a:spcPct val="90000"/>
              </a:lnSpc>
              <a:spcBef>
                <a:spcPts val="1000"/>
              </a:spcBef>
            </a:pPr>
            <a:r>
              <a:rPr lang="en-US" sz="3400" b="0" i="0">
                <a:effectLst/>
              </a:rPr>
              <a:t>​</a:t>
            </a:r>
            <a:r>
              <a:rPr lang="en-US" sz="3400" b="1" i="0">
                <a:effectLst/>
              </a:rPr>
              <a:t>Tooling Stack</a:t>
            </a:r>
            <a:r>
              <a:rPr lang="en-US" sz="3400" b="0" i="0">
                <a:effectLst/>
              </a:rPr>
              <a:t>: Excel, Power Query, Pivot Tables &amp; PivotCharts</a:t>
            </a:r>
          </a:p>
          <a:p>
            <a:pPr>
              <a:lnSpc>
                <a:spcPct val="90000"/>
              </a:lnSpc>
              <a:spcBef>
                <a:spcPts val="1000"/>
              </a:spcBef>
            </a:pPr>
            <a:endParaRPr lang="en-US" sz="3400" b="0" i="0">
              <a:effectLst/>
            </a:endParaRPr>
          </a:p>
          <a:p>
            <a:pPr>
              <a:lnSpc>
                <a:spcPct val="90000"/>
              </a:lnSpc>
              <a:spcBef>
                <a:spcPts val="1000"/>
              </a:spcBef>
            </a:pPr>
            <a:r>
              <a:rPr lang="en-US" sz="3400" b="0" i="0">
                <a:effectLst/>
              </a:rPr>
              <a:t>Data Cleaning (2010–2017)</a:t>
            </a:r>
            <a:endParaRPr lang="en-US" sz="3400"/>
          </a:p>
        </p:txBody>
      </p:sp>
    </p:spTree>
    <p:extLst>
      <p:ext uri="{BB962C8B-B14F-4D97-AF65-F5344CB8AC3E}">
        <p14:creationId xmlns:p14="http://schemas.microsoft.com/office/powerpoint/2010/main" val="3678533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1045A0B-11FD-C56B-04F2-2BDAE9EF3B22}"/>
              </a:ext>
            </a:extLst>
          </p:cNvPr>
          <p:cNvSpPr>
            <a:spLocks noGrp="1"/>
          </p:cNvSpPr>
          <p:nvPr>
            <p:ph type="title"/>
          </p:nvPr>
        </p:nvSpPr>
        <p:spPr/>
        <p:txBody>
          <a:bodyPr/>
          <a:lstStyle/>
          <a:p>
            <a:r>
              <a:rPr lang="en-US" b="1" dirty="0"/>
              <a:t>Comprehensive Power Query Data Cleaning Pipeline ​Source File &amp; Metadata Handling</a:t>
            </a:r>
            <a:r>
              <a:rPr lang="en-US" dirty="0"/>
              <a:t>:</a:t>
            </a:r>
          </a:p>
        </p:txBody>
      </p:sp>
      <p:sp>
        <p:nvSpPr>
          <p:cNvPr id="5" name="TextBox 4">
            <a:extLst>
              <a:ext uri="{FF2B5EF4-FFF2-40B4-BE49-F238E27FC236}">
                <a16:creationId xmlns:a16="http://schemas.microsoft.com/office/drawing/2014/main" id="{9FA23E03-38D9-9FEF-23EA-6153DBD98C01}"/>
              </a:ext>
            </a:extLst>
          </p:cNvPr>
          <p:cNvSpPr txBox="1"/>
          <p:nvPr/>
        </p:nvSpPr>
        <p:spPr>
          <a:xfrm>
            <a:off x="301752" y="2410518"/>
            <a:ext cx="6755514" cy="3807402"/>
          </a:xfrm>
          <a:prstGeom prst="rect">
            <a:avLst/>
          </a:prstGeom>
        </p:spPr>
        <p:txBody>
          <a:bodyPr vert="horz" lIns="91440" tIns="45720" rIns="91440" bIns="45720" rtlCol="0">
            <a:normAutofit/>
          </a:bodyPr>
          <a:lstStyle/>
          <a:p>
            <a:pPr>
              <a:lnSpc>
                <a:spcPct val="120000"/>
              </a:lnSpc>
              <a:spcBef>
                <a:spcPts val="1000"/>
              </a:spcBef>
            </a:pPr>
            <a:r>
              <a:rPr lang="en-US" sz="1300" b="0" i="0" dirty="0">
                <a:effectLst/>
              </a:rPr>
              <a:t> </a:t>
            </a:r>
            <a:r>
              <a:rPr lang="en-US" sz="1400" b="0" i="0" dirty="0">
                <a:effectLst/>
              </a:rPr>
              <a:t>1-Filtered hidden files (Filtered Hidden Files),</a:t>
            </a:r>
          </a:p>
          <a:p>
            <a:pPr>
              <a:lnSpc>
                <a:spcPct val="120000"/>
              </a:lnSpc>
              <a:spcBef>
                <a:spcPts val="1000"/>
              </a:spcBef>
            </a:pPr>
            <a:r>
              <a:rPr lang="en-US" sz="1400" b="0" i="0" dirty="0">
                <a:effectLst/>
              </a:rPr>
              <a:t>2- removed redundant metadata (Removed Other Columns),</a:t>
            </a:r>
          </a:p>
          <a:p>
            <a:pPr>
              <a:lnSpc>
                <a:spcPct val="120000"/>
              </a:lnSpc>
              <a:spcBef>
                <a:spcPts val="1000"/>
              </a:spcBef>
            </a:pPr>
            <a:r>
              <a:rPr lang="en-US" sz="1400" dirty="0"/>
              <a:t>3-</a:t>
            </a:r>
            <a:r>
              <a:rPr lang="en-US" sz="1400" b="0" i="0" dirty="0">
                <a:effectLst/>
              </a:rPr>
              <a:t>promoted table headers (Promoted Headers). </a:t>
            </a:r>
          </a:p>
          <a:p>
            <a:pPr>
              <a:lnSpc>
                <a:spcPct val="120000"/>
              </a:lnSpc>
              <a:spcBef>
                <a:spcPts val="1000"/>
              </a:spcBef>
            </a:pPr>
            <a:r>
              <a:rPr lang="en-US" sz="1400" b="0" i="0" dirty="0">
                <a:effectLst/>
              </a:rPr>
              <a:t>​4-Null &amp; Structural Error Removal: Excluded unmapped records ([FRS Id] &lt;&gt; null and [Facility Id] &lt;&gt; null) and eliminated location extraction errors (Removed Errors). ​</a:t>
            </a:r>
          </a:p>
          <a:p>
            <a:pPr>
              <a:lnSpc>
                <a:spcPct val="120000"/>
              </a:lnSpc>
              <a:spcBef>
                <a:spcPts val="1000"/>
              </a:spcBef>
            </a:pPr>
            <a:r>
              <a:rPr lang="en-US" sz="1400" b="0" i="0" dirty="0">
                <a:effectLst/>
              </a:rPr>
              <a:t>5-Text Normalization &amp; Standardizing: Executed Trim and Clean transformations across Facility Name, City, Address, and State to strip whitespace and unify state codes.</a:t>
            </a:r>
          </a:p>
          <a:p>
            <a:pPr>
              <a:lnSpc>
                <a:spcPct val="120000"/>
              </a:lnSpc>
              <a:spcBef>
                <a:spcPts val="1000"/>
              </a:spcBef>
            </a:pPr>
            <a:r>
              <a:rPr lang="en-US" sz="1400" dirty="0"/>
              <a:t>6-</a:t>
            </a:r>
            <a:r>
              <a:rPr lang="en-US" sz="1400" b="0" i="0" dirty="0">
                <a:effectLst/>
              </a:rPr>
              <a:t> ​Strict Data Type Mapping: ​Integers: year, Facility Id, FRS Id ​</a:t>
            </a:r>
          </a:p>
          <a:p>
            <a:pPr>
              <a:lnSpc>
                <a:spcPct val="120000"/>
              </a:lnSpc>
              <a:spcBef>
                <a:spcPts val="1000"/>
              </a:spcBef>
            </a:pPr>
            <a:r>
              <a:rPr lang="en-US" sz="1400" b="0" i="0" dirty="0">
                <a:effectLst/>
              </a:rPr>
              <a:t>Decimals: emissions, </a:t>
            </a:r>
            <a:r>
              <a:rPr lang="en-US" sz="1400" b="0" i="0" dirty="0" err="1">
                <a:effectLst/>
              </a:rPr>
              <a:t>predicted_emissions</a:t>
            </a:r>
            <a:r>
              <a:rPr lang="en-US" sz="1400" b="0" i="0" dirty="0">
                <a:effectLst/>
              </a:rPr>
              <a:t>, latitude, longitude, </a:t>
            </a:r>
            <a:r>
              <a:rPr lang="en-US" sz="1400" b="0" i="0" dirty="0" err="1">
                <a:effectLst/>
              </a:rPr>
              <a:t>zip_code</a:t>
            </a:r>
            <a:endParaRPr lang="en-US" sz="1400" b="0" i="0" dirty="0">
              <a:effectLst/>
            </a:endParaRPr>
          </a:p>
          <a:p>
            <a:pPr>
              <a:lnSpc>
                <a:spcPct val="120000"/>
              </a:lnSpc>
              <a:spcBef>
                <a:spcPts val="1000"/>
              </a:spcBef>
            </a:pPr>
            <a:r>
              <a:rPr lang="en-US" sz="1400" b="0" i="0" dirty="0">
                <a:effectLst/>
              </a:rPr>
              <a:t> ​Text: Facility Name, City, State, Address, </a:t>
            </a:r>
            <a:r>
              <a:rPr lang="en-US" sz="1400" b="0" i="0" dirty="0" err="1">
                <a:effectLst/>
              </a:rPr>
              <a:t>industry_type</a:t>
            </a:r>
            <a:r>
              <a:rPr lang="en-US" sz="1400" b="0" i="0" dirty="0">
                <a:effectLst/>
              </a:rPr>
              <a:t> </a:t>
            </a:r>
          </a:p>
        </p:txBody>
      </p:sp>
      <p:pic>
        <p:nvPicPr>
          <p:cNvPr id="3" name="Picture 2">
            <a:extLst>
              <a:ext uri="{FF2B5EF4-FFF2-40B4-BE49-F238E27FC236}">
                <a16:creationId xmlns:a16="http://schemas.microsoft.com/office/drawing/2014/main" id="{AD274E96-B2A5-9790-AF7F-CC07A2F5C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4430" y="0"/>
            <a:ext cx="2263139" cy="6858000"/>
          </a:xfrm>
          <a:prstGeom prst="rect">
            <a:avLst/>
          </a:prstGeom>
          <a:noFill/>
        </p:spPr>
      </p:pic>
    </p:spTree>
    <p:extLst>
      <p:ext uri="{BB962C8B-B14F-4D97-AF65-F5344CB8AC3E}">
        <p14:creationId xmlns:p14="http://schemas.microsoft.com/office/powerpoint/2010/main" val="272377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F47AB2-6701-73A3-4531-66B8B89F4992}"/>
              </a:ext>
            </a:extLst>
          </p:cNvPr>
          <p:cNvSpPr txBox="1"/>
          <p:nvPr/>
        </p:nvSpPr>
        <p:spPr>
          <a:xfrm>
            <a:off x="299182" y="730515"/>
            <a:ext cx="6751127" cy="1250871"/>
          </a:xfrm>
          <a:prstGeom prst="rect">
            <a:avLst/>
          </a:prstGeom>
        </p:spPr>
        <p:txBody>
          <a:bodyPr vert="horz" lIns="91440" tIns="45720" rIns="91440" bIns="45720" rtlCol="0" anchor="b">
            <a:noAutofit/>
          </a:bodyPr>
          <a:lstStyle/>
          <a:p>
            <a:pPr>
              <a:lnSpc>
                <a:spcPct val="85000"/>
              </a:lnSpc>
              <a:spcBef>
                <a:spcPct val="0"/>
              </a:spcBef>
              <a:spcAft>
                <a:spcPts val="600"/>
              </a:spcAft>
            </a:pPr>
            <a:r>
              <a:rPr lang="en-US" sz="1600" b="0" kern="1200" spc="0" baseline="0" dirty="0">
                <a:latin typeface="+mj-lt"/>
                <a:ea typeface="+mj-ea"/>
                <a:cs typeface="+mj-cs"/>
              </a:rPr>
              <a:t>7-</a:t>
            </a:r>
            <a:r>
              <a:rPr lang="en-US" sz="1600" b="0" i="0" kern="1200" spc="0" baseline="0" dirty="0">
                <a:effectLst/>
                <a:latin typeface="+mj-lt"/>
                <a:ea typeface="+mj-ea"/>
                <a:cs typeface="+mj-cs"/>
              </a:rPr>
              <a:t>​Feature Engineering &amp; Custom Logic: ​Added Emission Category Breakdown (Custom conditional intensity levels).</a:t>
            </a:r>
          </a:p>
          <a:p>
            <a:pPr>
              <a:lnSpc>
                <a:spcPct val="85000"/>
              </a:lnSpc>
              <a:spcBef>
                <a:spcPct val="0"/>
              </a:spcBef>
              <a:spcAft>
                <a:spcPts val="600"/>
              </a:spcAft>
            </a:pPr>
            <a:r>
              <a:rPr lang="en-US" sz="1600" b="0" i="0" kern="1200" spc="0" baseline="0" dirty="0">
                <a:effectLst/>
                <a:latin typeface="+mj-lt"/>
                <a:ea typeface="+mj-ea"/>
                <a:cs typeface="+mj-cs"/>
              </a:rPr>
              <a:t> ​Added Gas Composition Category (CO2 Heavy vs. Methane/Other Heavy). </a:t>
            </a:r>
          </a:p>
          <a:p>
            <a:pPr>
              <a:lnSpc>
                <a:spcPct val="85000"/>
              </a:lnSpc>
              <a:spcBef>
                <a:spcPct val="0"/>
              </a:spcBef>
              <a:spcAft>
                <a:spcPts val="600"/>
              </a:spcAft>
            </a:pPr>
            <a:r>
              <a:rPr lang="en-US" sz="1600" b="0" i="0" kern="1200" spc="0" baseline="0" dirty="0">
                <a:effectLst/>
                <a:latin typeface="+mj-lt"/>
                <a:ea typeface="+mj-ea"/>
                <a:cs typeface="+mj-cs"/>
              </a:rPr>
              <a:t>​Added State Standardized for seamless Slicer interactions.</a:t>
            </a:r>
            <a:endParaRPr lang="en-US" sz="1600" b="0" kern="1200" spc="0" baseline="0" dirty="0">
              <a:latin typeface="+mj-lt"/>
              <a:ea typeface="+mj-ea"/>
              <a:cs typeface="+mj-cs"/>
            </a:endParaRPr>
          </a:p>
        </p:txBody>
      </p:sp>
      <p:sp>
        <p:nvSpPr>
          <p:cNvPr id="7" name="TextBox 6">
            <a:extLst>
              <a:ext uri="{FF2B5EF4-FFF2-40B4-BE49-F238E27FC236}">
                <a16:creationId xmlns:a16="http://schemas.microsoft.com/office/drawing/2014/main" id="{63572509-9E38-D22D-96BF-3595AE643DAB}"/>
              </a:ext>
            </a:extLst>
          </p:cNvPr>
          <p:cNvSpPr txBox="1"/>
          <p:nvPr/>
        </p:nvSpPr>
        <p:spPr>
          <a:xfrm>
            <a:off x="301752" y="2410518"/>
            <a:ext cx="6755514" cy="3807402"/>
          </a:xfrm>
          <a:prstGeom prst="rect">
            <a:avLst/>
          </a:prstGeom>
        </p:spPr>
        <p:txBody>
          <a:bodyPr vert="horz" lIns="91440" tIns="45720" rIns="91440" bIns="45720" rtlCol="0">
            <a:noAutofit/>
          </a:bodyPr>
          <a:lstStyle/>
          <a:p>
            <a:pPr>
              <a:lnSpc>
                <a:spcPct val="110000"/>
              </a:lnSpc>
              <a:spcBef>
                <a:spcPts val="1000"/>
              </a:spcBef>
            </a:pPr>
            <a:r>
              <a:rPr lang="en-US" sz="1400" b="1" i="0" dirty="0">
                <a:effectLst/>
              </a:rPr>
              <a:t>Clean Dataset Inventory (15 Attributes)</a:t>
            </a:r>
          </a:p>
          <a:p>
            <a:pPr>
              <a:lnSpc>
                <a:spcPct val="110000"/>
              </a:lnSpc>
              <a:spcBef>
                <a:spcPts val="1000"/>
              </a:spcBef>
            </a:pPr>
            <a:r>
              <a:rPr lang="en-US" sz="1400" i="0" dirty="0">
                <a:effectLst/>
              </a:rPr>
              <a:t>1</a:t>
            </a:r>
            <a:r>
              <a:rPr lang="en-US" sz="1400" b="1" i="0" dirty="0">
                <a:effectLst/>
              </a:rPr>
              <a:t>- </a:t>
            </a:r>
            <a:r>
              <a:rPr lang="en-US" sz="1400" b="0" i="0" dirty="0">
                <a:effectLst/>
              </a:rPr>
              <a:t>​year — Recorded calendar year (2010–2017 historical, 2018–2020 predicted) </a:t>
            </a:r>
          </a:p>
          <a:p>
            <a:pPr>
              <a:lnSpc>
                <a:spcPct val="110000"/>
              </a:lnSpc>
              <a:spcBef>
                <a:spcPts val="1000"/>
              </a:spcBef>
            </a:pPr>
            <a:r>
              <a:rPr lang="en-US" sz="1400" b="0" i="0" dirty="0">
                <a:effectLst/>
              </a:rPr>
              <a:t>​2-Facility Id — Unique facility tracking identifier </a:t>
            </a:r>
          </a:p>
          <a:p>
            <a:pPr>
              <a:lnSpc>
                <a:spcPct val="110000"/>
              </a:lnSpc>
              <a:spcBef>
                <a:spcPts val="1000"/>
              </a:spcBef>
            </a:pPr>
            <a:r>
              <a:rPr lang="en-US" sz="1400" b="0" i="0" dirty="0">
                <a:effectLst/>
              </a:rPr>
              <a:t>​3-FRS Id — Federal Registry System identifier</a:t>
            </a:r>
          </a:p>
          <a:p>
            <a:pPr>
              <a:lnSpc>
                <a:spcPct val="110000"/>
              </a:lnSpc>
              <a:spcBef>
                <a:spcPts val="1000"/>
              </a:spcBef>
            </a:pPr>
            <a:r>
              <a:rPr lang="en-US" sz="1400" b="0" i="0" dirty="0">
                <a:effectLst/>
              </a:rPr>
              <a:t>4- ​Facility Name — Standardized facility entity name</a:t>
            </a:r>
          </a:p>
          <a:p>
            <a:pPr>
              <a:lnSpc>
                <a:spcPct val="110000"/>
              </a:lnSpc>
              <a:spcBef>
                <a:spcPts val="1000"/>
              </a:spcBef>
            </a:pPr>
            <a:r>
              <a:rPr lang="en-US" sz="1400" dirty="0"/>
              <a:t>5-</a:t>
            </a:r>
            <a:r>
              <a:rPr lang="en-US" sz="1400" b="0" i="0" dirty="0">
                <a:effectLst/>
              </a:rPr>
              <a:t> ​City — Facility municipality location ​</a:t>
            </a:r>
          </a:p>
          <a:p>
            <a:pPr>
              <a:lnSpc>
                <a:spcPct val="110000"/>
              </a:lnSpc>
              <a:spcBef>
                <a:spcPts val="1000"/>
              </a:spcBef>
            </a:pPr>
            <a:r>
              <a:rPr lang="en-US" sz="1400" dirty="0"/>
              <a:t>6-</a:t>
            </a:r>
            <a:r>
              <a:rPr lang="en-US" sz="1400" b="0" i="0" dirty="0">
                <a:effectLst/>
              </a:rPr>
              <a:t>State — Standardized 2-letter state</a:t>
            </a:r>
          </a:p>
          <a:p>
            <a:pPr>
              <a:lnSpc>
                <a:spcPct val="110000"/>
              </a:lnSpc>
              <a:spcBef>
                <a:spcPts val="1000"/>
              </a:spcBef>
            </a:pPr>
            <a:r>
              <a:rPr lang="en-US" sz="1400" dirty="0"/>
              <a:t>7-</a:t>
            </a:r>
            <a:r>
              <a:rPr lang="en-US" sz="1400" b="0" i="0" dirty="0">
                <a:effectLst/>
              </a:rPr>
              <a:t>Industrial sector classification</a:t>
            </a:r>
          </a:p>
          <a:p>
            <a:pPr>
              <a:lnSpc>
                <a:spcPct val="110000"/>
              </a:lnSpc>
              <a:spcBef>
                <a:spcPts val="1000"/>
              </a:spcBef>
            </a:pPr>
            <a:r>
              <a:rPr lang="en-US" sz="1400" dirty="0"/>
              <a:t>8-</a:t>
            </a:r>
            <a:r>
              <a:rPr lang="en-US" sz="1400" b="0" i="0" dirty="0">
                <a:effectLst/>
              </a:rPr>
              <a:t> ​emissions — Actual recorded</a:t>
            </a:r>
          </a:p>
          <a:p>
            <a:pPr>
              <a:lnSpc>
                <a:spcPct val="110000"/>
              </a:lnSpc>
              <a:spcBef>
                <a:spcPts val="1000"/>
              </a:spcBef>
            </a:pPr>
            <a:r>
              <a:rPr lang="en-US" sz="1400" dirty="0"/>
              <a:t>9-</a:t>
            </a:r>
            <a:r>
              <a:rPr lang="en-US" sz="1400" b="0" i="0" dirty="0">
                <a:effectLst/>
              </a:rPr>
              <a:t> emissions volume (MT CO2e) </a:t>
            </a:r>
          </a:p>
          <a:p>
            <a:pPr>
              <a:lnSpc>
                <a:spcPct val="110000"/>
              </a:lnSpc>
              <a:spcBef>
                <a:spcPts val="1000"/>
              </a:spcBef>
            </a:pPr>
            <a:r>
              <a:rPr lang="en-US" sz="1400" dirty="0"/>
              <a:t>10-</a:t>
            </a:r>
            <a:r>
              <a:rPr lang="en-US" sz="1400" b="0" i="0" dirty="0">
                <a:effectLst/>
              </a:rPr>
              <a:t>Calculated intensity category (High/Medium/Low) ​Gas Composition Category — CO2 Heavy (96%) vs. Methane/Other Heavy (4%)</a:t>
            </a:r>
            <a:endParaRPr lang="en-US" sz="1400" dirty="0"/>
          </a:p>
        </p:txBody>
      </p:sp>
      <p:pic>
        <p:nvPicPr>
          <p:cNvPr id="5" name="Picture 4">
            <a:extLst>
              <a:ext uri="{FF2B5EF4-FFF2-40B4-BE49-F238E27FC236}">
                <a16:creationId xmlns:a16="http://schemas.microsoft.com/office/drawing/2014/main" id="{1E7EF096-165B-EEEB-182B-038EEAB6D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7255" y="0"/>
            <a:ext cx="2777490" cy="6858000"/>
          </a:xfrm>
          <a:prstGeom prst="rect">
            <a:avLst/>
          </a:prstGeom>
          <a:noFill/>
        </p:spPr>
      </p:pic>
    </p:spTree>
    <p:extLst>
      <p:ext uri="{BB962C8B-B14F-4D97-AF65-F5344CB8AC3E}">
        <p14:creationId xmlns:p14="http://schemas.microsoft.com/office/powerpoint/2010/main" val="276193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3D49D1-4FA6-D3B9-B2D5-A16FBBC66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710" y="666510"/>
            <a:ext cx="10945090" cy="5524979"/>
          </a:xfrm>
          <a:prstGeom prst="rect">
            <a:avLst/>
          </a:prstGeom>
        </p:spPr>
      </p:pic>
      <p:sp>
        <p:nvSpPr>
          <p:cNvPr id="5" name="TextBox 4">
            <a:extLst>
              <a:ext uri="{FF2B5EF4-FFF2-40B4-BE49-F238E27FC236}">
                <a16:creationId xmlns:a16="http://schemas.microsoft.com/office/drawing/2014/main" id="{59BA9799-B908-041A-A1A4-38A8148F445E}"/>
              </a:ext>
            </a:extLst>
          </p:cNvPr>
          <p:cNvSpPr txBox="1"/>
          <p:nvPr/>
        </p:nvSpPr>
        <p:spPr>
          <a:xfrm>
            <a:off x="2752437" y="96981"/>
            <a:ext cx="6511636" cy="369332"/>
          </a:xfrm>
          <a:prstGeom prst="rect">
            <a:avLst/>
          </a:prstGeom>
          <a:noFill/>
        </p:spPr>
        <p:txBody>
          <a:bodyPr wrap="square">
            <a:spAutoFit/>
          </a:bodyPr>
          <a:lstStyle/>
          <a:p>
            <a:r>
              <a:rPr lang="en-US" b="1" i="0" dirty="0">
                <a:solidFill>
                  <a:srgbClr val="000000"/>
                </a:solidFill>
                <a:effectLst/>
                <a:latin typeface="Roboto" panose="02000000000000000000" pitchFamily="2" charset="0"/>
              </a:rPr>
              <a:t>Interactive Dashboard Historical </a:t>
            </a:r>
            <a:r>
              <a:rPr lang="en-US" b="1" i="0" dirty="0" err="1">
                <a:solidFill>
                  <a:srgbClr val="000000"/>
                </a:solidFill>
                <a:effectLst/>
                <a:latin typeface="Roboto" panose="02000000000000000000" pitchFamily="2" charset="0"/>
              </a:rPr>
              <a:t>ard</a:t>
            </a:r>
            <a:r>
              <a:rPr lang="en-US" b="1" i="0" dirty="0">
                <a:solidFill>
                  <a:srgbClr val="000000"/>
                </a:solidFill>
                <a:effectLst/>
                <a:latin typeface="Roboto" panose="02000000000000000000" pitchFamily="2" charset="0"/>
              </a:rPr>
              <a:t> Analysis (2010–2017)</a:t>
            </a:r>
            <a:endParaRPr lang="en-US" b="1" dirty="0"/>
          </a:p>
        </p:txBody>
      </p:sp>
    </p:spTree>
    <p:extLst>
      <p:ext uri="{BB962C8B-B14F-4D97-AF65-F5344CB8AC3E}">
        <p14:creationId xmlns:p14="http://schemas.microsoft.com/office/powerpoint/2010/main" val="350110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B678B3D-1D21-A9E4-A4AC-A1F72C6410FE}"/>
              </a:ext>
            </a:extLst>
          </p:cNvPr>
          <p:cNvSpPr>
            <a:spLocks noGrp="1"/>
          </p:cNvSpPr>
          <p:nvPr>
            <p:ph type="title"/>
          </p:nvPr>
        </p:nvSpPr>
        <p:spPr>
          <a:xfrm>
            <a:off x="301752" y="0"/>
            <a:ext cx="6751127" cy="1250871"/>
          </a:xfrm>
        </p:spPr>
        <p:txBody>
          <a:bodyPr>
            <a:normAutofit/>
          </a:bodyPr>
          <a:lstStyle/>
          <a:p>
            <a:r>
              <a:rPr lang="en-US" sz="1800" b="1" dirty="0"/>
              <a:t>Executive KPI Cards (Top Metrics):</a:t>
            </a:r>
            <a:endParaRPr lang="en-US" sz="1800" dirty="0"/>
          </a:p>
        </p:txBody>
      </p:sp>
      <p:sp>
        <p:nvSpPr>
          <p:cNvPr id="3" name="TextBox 2">
            <a:extLst>
              <a:ext uri="{FF2B5EF4-FFF2-40B4-BE49-F238E27FC236}">
                <a16:creationId xmlns:a16="http://schemas.microsoft.com/office/drawing/2014/main" id="{4A421899-28D9-4B67-5A1A-45D996886DBB}"/>
              </a:ext>
            </a:extLst>
          </p:cNvPr>
          <p:cNvSpPr txBox="1"/>
          <p:nvPr/>
        </p:nvSpPr>
        <p:spPr>
          <a:xfrm>
            <a:off x="301752" y="1033330"/>
            <a:ext cx="6755514" cy="3807402"/>
          </a:xfrm>
          <a:prstGeom prst="rect">
            <a:avLst/>
          </a:prstGeom>
        </p:spPr>
        <p:txBody>
          <a:bodyPr vert="horz" lIns="91440" tIns="45720" rIns="91440" bIns="45720" rtlCol="0">
            <a:normAutofit fontScale="25000" lnSpcReduction="20000"/>
          </a:bodyPr>
          <a:lstStyle/>
          <a:p>
            <a:pPr>
              <a:lnSpc>
                <a:spcPct val="110000"/>
              </a:lnSpc>
              <a:spcBef>
                <a:spcPts val="1000"/>
              </a:spcBef>
            </a:pPr>
            <a:r>
              <a:rPr lang="en-US" sz="1000" b="0" i="0" dirty="0">
                <a:effectLst/>
              </a:rPr>
              <a:t>​​</a:t>
            </a:r>
          </a:p>
          <a:p>
            <a:pPr>
              <a:lnSpc>
                <a:spcPct val="110000"/>
              </a:lnSpc>
              <a:spcBef>
                <a:spcPts val="1000"/>
              </a:spcBef>
            </a:pPr>
            <a:r>
              <a:rPr lang="en-US" sz="5500" dirty="0"/>
              <a:t>1-</a:t>
            </a:r>
            <a:r>
              <a:rPr lang="en-US" sz="5500" b="0" i="0" dirty="0">
                <a:effectLst/>
              </a:rPr>
              <a:t>Total Emissions: 24,060,868,986 MT CO2e </a:t>
            </a:r>
          </a:p>
          <a:p>
            <a:pPr>
              <a:lnSpc>
                <a:spcPct val="110000"/>
              </a:lnSpc>
              <a:spcBef>
                <a:spcPts val="1000"/>
              </a:spcBef>
            </a:pPr>
            <a:r>
              <a:rPr lang="en-US" sz="5500" dirty="0"/>
              <a:t>2-</a:t>
            </a:r>
            <a:r>
              <a:rPr lang="en-US" sz="5500" b="0" i="0" dirty="0">
                <a:effectLst/>
              </a:rPr>
              <a:t>​Total Facilities: 34,745 active sites tracked ​</a:t>
            </a:r>
          </a:p>
          <a:p>
            <a:pPr>
              <a:lnSpc>
                <a:spcPct val="110000"/>
              </a:lnSpc>
              <a:spcBef>
                <a:spcPts val="1000"/>
              </a:spcBef>
            </a:pPr>
            <a:r>
              <a:rPr lang="en-US" sz="5500" dirty="0"/>
              <a:t>3-</a:t>
            </a:r>
            <a:r>
              <a:rPr lang="en-US" sz="5500" b="0" i="0" dirty="0">
                <a:effectLst/>
              </a:rPr>
              <a:t>Top Sector Contributor: Power Plants (15.70B MT CO2e) ​</a:t>
            </a:r>
          </a:p>
          <a:p>
            <a:pPr>
              <a:lnSpc>
                <a:spcPct val="110000"/>
              </a:lnSpc>
              <a:spcBef>
                <a:spcPts val="1000"/>
              </a:spcBef>
            </a:pPr>
            <a:r>
              <a:rPr lang="en-US" sz="5500" dirty="0"/>
              <a:t>4-</a:t>
            </a:r>
            <a:r>
              <a:rPr lang="en-US" sz="5500" b="0" i="0" dirty="0">
                <a:effectLst/>
              </a:rPr>
              <a:t>Top State Contributor: Texas (5.18B MT CO2e) </a:t>
            </a:r>
          </a:p>
          <a:p>
            <a:pPr>
              <a:lnSpc>
                <a:spcPct val="110000"/>
              </a:lnSpc>
              <a:spcBef>
                <a:spcPts val="1000"/>
              </a:spcBef>
            </a:pPr>
            <a:r>
              <a:rPr lang="en-US" sz="5500" b="0" i="0" dirty="0">
                <a:effectLst/>
              </a:rPr>
              <a:t>​</a:t>
            </a:r>
            <a:r>
              <a:rPr lang="en-US" sz="5500" b="1" i="0" dirty="0">
                <a:effectLst/>
              </a:rPr>
              <a:t>Sector &amp; Geographic Visuals</a:t>
            </a:r>
            <a:r>
              <a:rPr lang="en-US" sz="5500" b="0" i="0" dirty="0">
                <a:effectLst/>
              </a:rPr>
              <a:t>: ​</a:t>
            </a:r>
          </a:p>
          <a:p>
            <a:pPr>
              <a:lnSpc>
                <a:spcPct val="110000"/>
              </a:lnSpc>
              <a:spcBef>
                <a:spcPts val="1000"/>
              </a:spcBef>
            </a:pPr>
            <a:r>
              <a:rPr lang="en-US" sz="5500" dirty="0"/>
              <a:t>1-</a:t>
            </a:r>
            <a:r>
              <a:rPr lang="en-US" sz="5500" b="0" i="0" dirty="0">
                <a:effectLst/>
              </a:rPr>
              <a:t>Top 10 vs. Lowest 10 Industry Sectors: Column charts analyzing sector volume spread. ​</a:t>
            </a:r>
            <a:endParaRPr lang="en-US" sz="5500" dirty="0"/>
          </a:p>
          <a:p>
            <a:pPr>
              <a:lnSpc>
                <a:spcPct val="110000"/>
              </a:lnSpc>
              <a:spcBef>
                <a:spcPts val="1000"/>
              </a:spcBef>
            </a:pPr>
            <a:r>
              <a:rPr lang="en-US" sz="5500" b="0" i="0" dirty="0">
                <a:effectLst/>
              </a:rPr>
              <a:t>2-Top 10 vs. Lowest 10 States: Horizontal bar charts comparing state output.</a:t>
            </a:r>
          </a:p>
          <a:p>
            <a:pPr>
              <a:lnSpc>
                <a:spcPct val="110000"/>
              </a:lnSpc>
              <a:spcBef>
                <a:spcPts val="1000"/>
              </a:spcBef>
            </a:pPr>
            <a:r>
              <a:rPr lang="en-US" sz="5500" b="0" i="0" dirty="0">
                <a:effectLst/>
              </a:rPr>
              <a:t> ​</a:t>
            </a:r>
            <a:r>
              <a:rPr lang="en-US" sz="5500" b="1" i="0" dirty="0">
                <a:effectLst/>
              </a:rPr>
              <a:t>Composition &amp; Facility Dynamics</a:t>
            </a:r>
            <a:r>
              <a:rPr lang="en-US" sz="5500" b="0" i="0" dirty="0">
                <a:effectLst/>
              </a:rPr>
              <a:t>: ​</a:t>
            </a:r>
          </a:p>
          <a:p>
            <a:pPr>
              <a:lnSpc>
                <a:spcPct val="110000"/>
              </a:lnSpc>
              <a:spcBef>
                <a:spcPts val="1000"/>
              </a:spcBef>
            </a:pPr>
            <a:r>
              <a:rPr lang="en-US" sz="5500" dirty="0"/>
              <a:t>1-</a:t>
            </a:r>
            <a:r>
              <a:rPr lang="en-US" sz="5500" b="0" i="0" dirty="0">
                <a:effectLst/>
              </a:rPr>
              <a:t>Gas &amp; Intensity Breakdown: Doughnut (96% CO2 Heavy) &amp; Pie charts for emission category splits. ​</a:t>
            </a:r>
            <a:endParaRPr lang="en-US" sz="5500" dirty="0"/>
          </a:p>
          <a:p>
            <a:pPr>
              <a:lnSpc>
                <a:spcPct val="110000"/>
              </a:lnSpc>
              <a:spcBef>
                <a:spcPts val="1000"/>
              </a:spcBef>
            </a:pPr>
            <a:r>
              <a:rPr lang="en-US" sz="5500" b="0" i="0" dirty="0">
                <a:effectLst/>
              </a:rPr>
              <a:t>2-Facility Trajectories: Line charts tracking Top 10 Increasing and Top 10 Decreasing facilities over time. </a:t>
            </a:r>
          </a:p>
          <a:p>
            <a:pPr>
              <a:lnSpc>
                <a:spcPct val="110000"/>
              </a:lnSpc>
              <a:spcBef>
                <a:spcPts val="1000"/>
              </a:spcBef>
            </a:pPr>
            <a:r>
              <a:rPr lang="en-US" sz="5500" b="0" i="0" dirty="0">
                <a:effectLst/>
              </a:rPr>
              <a:t>​</a:t>
            </a:r>
            <a:r>
              <a:rPr lang="en-US" sz="5500" b="1" i="0" dirty="0">
                <a:effectLst/>
              </a:rPr>
              <a:t>Interactivity &amp; Aesthetics</a:t>
            </a:r>
            <a:r>
              <a:rPr lang="en-US" sz="5500" b="0" i="0" dirty="0">
                <a:effectLst/>
              </a:rPr>
              <a:t>: </a:t>
            </a:r>
          </a:p>
          <a:p>
            <a:pPr>
              <a:lnSpc>
                <a:spcPct val="110000"/>
              </a:lnSpc>
              <a:spcBef>
                <a:spcPts val="1000"/>
              </a:spcBef>
            </a:pPr>
            <a:r>
              <a:rPr lang="en-US" sz="5500" b="0" i="0" dirty="0">
                <a:effectLst/>
              </a:rPr>
              <a:t>Synchronized Year and State Slicers with a unified, transparent green design (No Fill, No Outline).</a:t>
            </a:r>
            <a:endParaRPr lang="en-US" sz="5500" dirty="0"/>
          </a:p>
        </p:txBody>
      </p:sp>
      <p:pic>
        <p:nvPicPr>
          <p:cNvPr id="5" name="Picture 4" descr="Smoke from a factory">
            <a:extLst>
              <a:ext uri="{FF2B5EF4-FFF2-40B4-BE49-F238E27FC236}">
                <a16:creationId xmlns:a16="http://schemas.microsoft.com/office/drawing/2014/main" id="{BE8BCE64-751A-D971-BA9C-587A31C722B0}"/>
              </a:ext>
            </a:extLst>
          </p:cNvPr>
          <p:cNvPicPr>
            <a:picLocks noChangeAspect="1"/>
          </p:cNvPicPr>
          <p:nvPr/>
        </p:nvPicPr>
        <p:blipFill>
          <a:blip r:embed="rId2"/>
          <a:srcRect l="24682" r="30817" b="-1"/>
          <a:stretch>
            <a:fillRect/>
          </a:stretch>
        </p:blipFill>
        <p:spPr>
          <a:xfrm>
            <a:off x="7620000" y="10"/>
            <a:ext cx="4572000" cy="6857990"/>
          </a:xfrm>
          <a:prstGeom prst="rect">
            <a:avLst/>
          </a:prstGeom>
          <a:noFill/>
        </p:spPr>
      </p:pic>
    </p:spTree>
    <p:extLst>
      <p:ext uri="{BB962C8B-B14F-4D97-AF65-F5344CB8AC3E}">
        <p14:creationId xmlns:p14="http://schemas.microsoft.com/office/powerpoint/2010/main" val="133335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BA6E9-C057-ED26-1341-035D6D422130}"/>
              </a:ext>
            </a:extLst>
          </p:cNvPr>
          <p:cNvSpPr>
            <a:spLocks noGrp="1"/>
          </p:cNvSpPr>
          <p:nvPr>
            <p:ph type="title"/>
          </p:nvPr>
        </p:nvSpPr>
        <p:spPr/>
        <p:txBody>
          <a:bodyPr anchor="t">
            <a:normAutofit/>
          </a:bodyPr>
          <a:lstStyle/>
          <a:p>
            <a:r>
              <a:rPr lang="en-US" dirty="0"/>
              <a:t>                                             Habiba mohamed</a:t>
            </a:r>
          </a:p>
        </p:txBody>
      </p:sp>
      <p:sp>
        <p:nvSpPr>
          <p:cNvPr id="14" name="Content Placeholder 2">
            <a:extLst>
              <a:ext uri="{FF2B5EF4-FFF2-40B4-BE49-F238E27FC236}">
                <a16:creationId xmlns:a16="http://schemas.microsoft.com/office/drawing/2014/main" id="{7E949D37-2966-B285-A612-D15D2611ACD5}"/>
              </a:ext>
            </a:extLst>
          </p:cNvPr>
          <p:cNvSpPr>
            <a:spLocks noGrp="1"/>
          </p:cNvSpPr>
          <p:nvPr>
            <p:ph sz="quarter" idx="13"/>
          </p:nvPr>
        </p:nvSpPr>
        <p:spPr>
          <a:xfrm>
            <a:off x="5655548" y="1646840"/>
            <a:ext cx="4991100" cy="4133032"/>
          </a:xfrm>
        </p:spPr>
        <p:txBody>
          <a:bodyPr>
            <a:normAutofit/>
          </a:bodyPr>
          <a:lstStyle/>
          <a:p>
            <a:r>
              <a:rPr lang="en-US" sz="2800" dirty="0"/>
              <a:t>                                             Machine Learning</a:t>
            </a:r>
          </a:p>
          <a:p>
            <a:r>
              <a:rPr lang="en-US" sz="2800" dirty="0"/>
              <a:t>                                             (data forecasting) </a:t>
            </a:r>
          </a:p>
        </p:txBody>
      </p:sp>
    </p:spTree>
    <p:extLst>
      <p:ext uri="{BB962C8B-B14F-4D97-AF65-F5344CB8AC3E}">
        <p14:creationId xmlns:p14="http://schemas.microsoft.com/office/powerpoint/2010/main" val="3001082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6B99C-90FB-5FC2-9369-0D010D91B74B}"/>
              </a:ext>
            </a:extLst>
          </p:cNvPr>
          <p:cNvSpPr>
            <a:spLocks noGrp="1"/>
          </p:cNvSpPr>
          <p:nvPr>
            <p:ph type="ctrTitle"/>
          </p:nvPr>
        </p:nvSpPr>
        <p:spPr>
          <a:xfrm>
            <a:off x="177281" y="550075"/>
            <a:ext cx="10254344" cy="424024"/>
          </a:xfrm>
        </p:spPr>
        <p:txBody>
          <a:bodyPr>
            <a:noAutofit/>
          </a:bodyPr>
          <a:lstStyle/>
          <a:p>
            <a:pPr algn="l"/>
            <a:r>
              <a:rPr lang="en-GB" sz="1050" dirty="0"/>
              <a:t> </a:t>
            </a:r>
            <a:r>
              <a:rPr lang="en-GB" sz="3600" b="1" dirty="0"/>
              <a:t>Machine Learning &amp; Emission Forecasting Pipeline</a:t>
            </a:r>
          </a:p>
        </p:txBody>
      </p:sp>
      <p:sp>
        <p:nvSpPr>
          <p:cNvPr id="4" name="Rectangle 1">
            <a:extLst>
              <a:ext uri="{FF2B5EF4-FFF2-40B4-BE49-F238E27FC236}">
                <a16:creationId xmlns:a16="http://schemas.microsoft.com/office/drawing/2014/main" id="{C6BA54D3-ED74-A67C-85A0-15977F41ABF6}"/>
              </a:ext>
            </a:extLst>
          </p:cNvPr>
          <p:cNvSpPr>
            <a:spLocks noGrp="1" noChangeArrowheads="1"/>
          </p:cNvSpPr>
          <p:nvPr>
            <p:ph type="subTitle" idx="1"/>
          </p:nvPr>
        </p:nvSpPr>
        <p:spPr bwMode="auto">
          <a:xfrm>
            <a:off x="177281" y="1085495"/>
            <a:ext cx="81269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GB" b="1" dirty="0"/>
              <a:t>Problem Formulation</a:t>
            </a:r>
          </a:p>
          <a:p>
            <a:pPr marL="0" marR="0" lvl="0" indent="0" algn="l" defTabSz="914400" rtl="0" eaLnBrk="0" fontAlgn="base" latinLnBrk="0" hangingPunct="0">
              <a:lnSpc>
                <a:spcPct val="100000"/>
              </a:lnSpc>
              <a:spcBef>
                <a:spcPct val="0"/>
              </a:spcBef>
              <a:spcAft>
                <a:spcPct val="0"/>
              </a:spcAft>
              <a:buClrTx/>
              <a:buSzTx/>
              <a:buFontTx/>
              <a:buChar char="•"/>
              <a:tabLst/>
            </a:pPr>
            <a:r>
              <a:rPr lang="en-GB" sz="1800" b="1" dirty="0"/>
              <a:t>Supervised Time-Series Regression:</a:t>
            </a:r>
            <a:r>
              <a:rPr lang="en-GB" sz="1800" dirty="0"/>
              <a:t> Transformed historical facility emission logs into a structured time-series supervised learning problem to predict future emission levels.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8656C783-400A-27BD-2A1D-9DC50EDB4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912523"/>
            <a:ext cx="12192000" cy="3945478"/>
          </a:xfrm>
          <a:prstGeom prst="rect">
            <a:avLst/>
          </a:prstGeom>
        </p:spPr>
      </p:pic>
    </p:spTree>
    <p:extLst>
      <p:ext uri="{BB962C8B-B14F-4D97-AF65-F5344CB8AC3E}">
        <p14:creationId xmlns:p14="http://schemas.microsoft.com/office/powerpoint/2010/main" val="2910823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8212-7016-FE2B-D18B-E544F6F10FD5}"/>
              </a:ext>
            </a:extLst>
          </p:cNvPr>
          <p:cNvSpPr>
            <a:spLocks noGrp="1"/>
          </p:cNvSpPr>
          <p:nvPr>
            <p:ph type="title"/>
          </p:nvPr>
        </p:nvSpPr>
        <p:spPr>
          <a:xfrm>
            <a:off x="50540" y="167546"/>
            <a:ext cx="5761653" cy="998782"/>
          </a:xfrm>
        </p:spPr>
        <p:txBody>
          <a:bodyPr>
            <a:normAutofit fontScale="90000"/>
          </a:bodyPr>
          <a:lstStyle/>
          <a:p>
            <a:r>
              <a:rPr lang="en-GB" sz="3600" b="1" dirty="0"/>
              <a:t>Advanced Feature Engineering &amp; Data Preparation</a:t>
            </a:r>
          </a:p>
        </p:txBody>
      </p:sp>
      <p:sp>
        <p:nvSpPr>
          <p:cNvPr id="8" name="Rectangle 3">
            <a:extLst>
              <a:ext uri="{FF2B5EF4-FFF2-40B4-BE49-F238E27FC236}">
                <a16:creationId xmlns:a16="http://schemas.microsoft.com/office/drawing/2014/main" id="{6AA53A0B-A12D-48C6-0035-BF8EBFB1A867}"/>
              </a:ext>
            </a:extLst>
          </p:cNvPr>
          <p:cNvSpPr>
            <a:spLocks noGrp="1" noChangeArrowheads="1"/>
          </p:cNvSpPr>
          <p:nvPr>
            <p:ph idx="1"/>
          </p:nvPr>
        </p:nvSpPr>
        <p:spPr bwMode="auto">
          <a:xfrm>
            <a:off x="50540" y="1253335"/>
            <a:ext cx="521088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Temporal Lag Features:</a:t>
            </a:r>
            <a:r>
              <a:rPr kumimoji="0" lang="en-US" altLang="en-US" sz="1800" b="0" i="0" u="none" strike="noStrike" cap="none" normalizeH="0" baseline="0" dirty="0">
                <a:ln>
                  <a:noFill/>
                </a:ln>
                <a:solidFill>
                  <a:schemeClr val="tx1"/>
                </a:solidFill>
                <a:effectLst/>
                <a:latin typeface="Arial" panose="020B0604020202020204" pitchFamily="34" charset="0"/>
              </a:rPr>
              <a:t> Created </a:t>
            </a:r>
            <a:r>
              <a:rPr kumimoji="0" lang="en-US" altLang="en-US" sz="1800" b="0" i="0" u="none" strike="noStrike" cap="none" normalizeH="0" baseline="0" dirty="0">
                <a:ln>
                  <a:noFill/>
                </a:ln>
                <a:solidFill>
                  <a:schemeClr val="tx1"/>
                </a:solidFill>
                <a:effectLst/>
                <a:latin typeface="Arial Unicode MS"/>
              </a:rPr>
              <a:t>lag_1</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a:ln>
                  <a:noFill/>
                </a:ln>
                <a:solidFill>
                  <a:schemeClr val="tx1"/>
                </a:solidFill>
                <a:effectLst/>
                <a:latin typeface="Arial Unicode MS"/>
              </a:rPr>
              <a:t>lag_2</a:t>
            </a:r>
            <a:r>
              <a:rPr kumimoji="0" lang="en-US" altLang="en-US" sz="1800" b="0" i="0" u="none" strike="noStrike" cap="none" normalizeH="0" baseline="0" dirty="0">
                <a:ln>
                  <a:noFill/>
                </a:ln>
                <a:solidFill>
                  <a:schemeClr val="tx1"/>
                </a:solidFill>
                <a:effectLst/>
              </a:rPr>
              <a:t> historical emission features for each facility to </a:t>
            </a:r>
            <a:r>
              <a:rPr lang="en-GB" sz="1800" dirty="0"/>
              <a:t>capture previous-year emission patterns and trends.</a:t>
            </a:r>
          </a:p>
          <a:p>
            <a:pPr marL="0" marR="0" lvl="0" indent="0" algn="l" defTabSz="914400" rtl="0" eaLnBrk="0" fontAlgn="base" latinLnBrk="0" hangingPunct="0">
              <a:lnSpc>
                <a:spcPct val="100000"/>
              </a:lnSpc>
              <a:spcBef>
                <a:spcPct val="0"/>
              </a:spcBef>
              <a:spcAft>
                <a:spcPct val="0"/>
              </a:spcAft>
              <a:buClrTx/>
              <a:buSzTx/>
              <a:buFontTx/>
              <a:buNone/>
              <a:tabLst/>
            </a:pPr>
            <a:r>
              <a:rPr lang="en-GB" sz="1800" b="1" dirty="0"/>
              <a:t>Rolling Window Aggregation:</a:t>
            </a:r>
            <a:r>
              <a:rPr lang="en-GB" sz="1800" dirty="0"/>
              <a:t> Calculated a 2-year rolling mean of previous emissions to capture the facility’s recent emission behaviour and smooth short-term fluctuations.</a:t>
            </a:r>
          </a:p>
          <a:p>
            <a:pPr marL="0" marR="0" lvl="0" indent="0" algn="l" defTabSz="914400" rtl="0" eaLnBrk="0" fontAlgn="base" latinLnBrk="0" hangingPunct="0">
              <a:lnSpc>
                <a:spcPct val="100000"/>
              </a:lnSpc>
              <a:spcBef>
                <a:spcPct val="0"/>
              </a:spcBef>
              <a:spcAft>
                <a:spcPct val="0"/>
              </a:spcAft>
              <a:buClrTx/>
              <a:buSzTx/>
              <a:buFontTx/>
              <a:buNone/>
              <a:tabLst/>
            </a:pPr>
            <a:r>
              <a:rPr lang="en-GB" sz="1800" b="1" dirty="0"/>
              <a:t>Categorical Feature Encoding:</a:t>
            </a:r>
            <a:r>
              <a:rPr lang="en-GB" sz="1800" dirty="0"/>
              <a:t> Applied One-Hot Encoding to categorical features such as state and </a:t>
            </a:r>
            <a:r>
              <a:rPr lang="en-GB" sz="1800" dirty="0" err="1"/>
              <a:t>industry_sector</a:t>
            </a:r>
            <a:r>
              <a:rPr lang="en-GB" sz="1800" dirty="0"/>
              <a:t> to convert them into a format suitable for machine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02DCFB6E-4B6B-0DB7-2CB3-004F4F25E2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954" y="18256"/>
            <a:ext cx="5884506" cy="6839744"/>
          </a:xfrm>
          <a:prstGeom prst="rect">
            <a:avLst/>
          </a:prstGeom>
        </p:spPr>
      </p:pic>
    </p:spTree>
    <p:extLst>
      <p:ext uri="{BB962C8B-B14F-4D97-AF65-F5344CB8AC3E}">
        <p14:creationId xmlns:p14="http://schemas.microsoft.com/office/powerpoint/2010/main" val="1759372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1D26-7988-40FB-1E46-4E7E67429F99}"/>
              </a:ext>
            </a:extLst>
          </p:cNvPr>
          <p:cNvSpPr>
            <a:spLocks noGrp="1"/>
          </p:cNvSpPr>
          <p:nvPr>
            <p:ph type="title"/>
          </p:nvPr>
        </p:nvSpPr>
        <p:spPr>
          <a:xfrm>
            <a:off x="71533" y="0"/>
            <a:ext cx="10515600" cy="633561"/>
          </a:xfrm>
        </p:spPr>
        <p:txBody>
          <a:bodyPr>
            <a:normAutofit/>
          </a:bodyPr>
          <a:lstStyle/>
          <a:p>
            <a:r>
              <a:rPr lang="en-GB" sz="3600" b="1" dirty="0"/>
              <a:t>Model Architecture &amp; Selection</a:t>
            </a:r>
          </a:p>
        </p:txBody>
      </p:sp>
      <p:sp>
        <p:nvSpPr>
          <p:cNvPr id="4" name="Rectangle 1">
            <a:extLst>
              <a:ext uri="{FF2B5EF4-FFF2-40B4-BE49-F238E27FC236}">
                <a16:creationId xmlns:a16="http://schemas.microsoft.com/office/drawing/2014/main" id="{0FC72CA7-20C6-6C1F-5C7A-8C7EC7E25F5A}"/>
              </a:ext>
            </a:extLst>
          </p:cNvPr>
          <p:cNvSpPr>
            <a:spLocks noGrp="1" noChangeArrowheads="1"/>
          </p:cNvSpPr>
          <p:nvPr>
            <p:ph idx="1"/>
          </p:nvPr>
        </p:nvSpPr>
        <p:spPr bwMode="auto">
          <a:xfrm>
            <a:off x="71534" y="595547"/>
            <a:ext cx="6178421" cy="2904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GB" sz="1800" b="1" dirty="0"/>
              <a:t>Algorithm:</a:t>
            </a:r>
            <a:r>
              <a:rPr lang="en-GB" sz="1800" dirty="0"/>
              <a:t> </a:t>
            </a:r>
            <a:r>
              <a:rPr lang="en-GB" sz="1800" b="1" dirty="0"/>
              <a:t>Random Forest Regressor</a:t>
            </a:r>
          </a:p>
          <a:p>
            <a:pPr marL="0" indent="0">
              <a:buNone/>
            </a:pPr>
            <a:r>
              <a:rPr lang="en-GB" sz="1800" b="1" dirty="0"/>
              <a:t>Why Random Forest?</a:t>
            </a:r>
            <a:endParaRPr lang="en-GB" sz="1800" dirty="0"/>
          </a:p>
          <a:p>
            <a:pPr>
              <a:buFont typeface="Arial" panose="020B0604020202020204" pitchFamily="34" charset="0"/>
              <a:buChar char="•"/>
            </a:pPr>
            <a:r>
              <a:rPr lang="en-GB" sz="1800" dirty="0"/>
              <a:t>Effectively captures complex, non-linear relationships across high-dimensional data.</a:t>
            </a:r>
          </a:p>
          <a:p>
            <a:pPr>
              <a:buFont typeface="Arial" panose="020B0604020202020204" pitchFamily="34" charset="0"/>
              <a:buChar char="•"/>
            </a:pPr>
            <a:r>
              <a:rPr lang="en-GB" sz="1800" dirty="0"/>
              <a:t>Robust against overfitting compared to single decision trees.</a:t>
            </a:r>
          </a:p>
          <a:p>
            <a:pPr>
              <a:buFont typeface="Arial" panose="020B0604020202020204" pitchFamily="34" charset="0"/>
              <a:buChar char="•"/>
            </a:pPr>
            <a:r>
              <a:rPr lang="en-GB" sz="1800" dirty="0"/>
              <a:t>Handles both continuous numerical features and encoded categorical indicators seamlessly.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itle 1">
            <a:extLst>
              <a:ext uri="{FF2B5EF4-FFF2-40B4-BE49-F238E27FC236}">
                <a16:creationId xmlns:a16="http://schemas.microsoft.com/office/drawing/2014/main" id="{53E13E10-5E5E-85BD-60C5-17469F52446A}"/>
              </a:ext>
            </a:extLst>
          </p:cNvPr>
          <p:cNvSpPr txBox="1">
            <a:spLocks/>
          </p:cNvSpPr>
          <p:nvPr/>
        </p:nvSpPr>
        <p:spPr>
          <a:xfrm>
            <a:off x="71534" y="2868960"/>
            <a:ext cx="10515600" cy="11200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t>Evaluation Metrics</a:t>
            </a:r>
          </a:p>
        </p:txBody>
      </p:sp>
      <p:sp>
        <p:nvSpPr>
          <p:cNvPr id="6" name="Rectangle 1">
            <a:extLst>
              <a:ext uri="{FF2B5EF4-FFF2-40B4-BE49-F238E27FC236}">
                <a16:creationId xmlns:a16="http://schemas.microsoft.com/office/drawing/2014/main" id="{F015B65F-7CFB-5373-A894-7FF98A4E3224}"/>
              </a:ext>
            </a:extLst>
          </p:cNvPr>
          <p:cNvSpPr txBox="1">
            <a:spLocks noChangeArrowheads="1"/>
          </p:cNvSpPr>
          <p:nvPr/>
        </p:nvSpPr>
        <p:spPr bwMode="auto">
          <a:xfrm>
            <a:off x="71534" y="3608960"/>
            <a:ext cx="617842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R</a:t>
            </a:r>
            <a:r>
              <a:rPr lang="en-US" altLang="en-US" sz="1600" dirty="0">
                <a:latin typeface="Arial" panose="020B0604020202020204" pitchFamily="34" charset="0"/>
              </a:rPr>
              <a:t>2 Score </a:t>
            </a:r>
            <a:r>
              <a:rPr lang="en-GB" sz="1800" b="1" dirty="0"/>
              <a:t>:</a:t>
            </a:r>
            <a:r>
              <a:rPr lang="en-GB" sz="1800" dirty="0"/>
              <a:t> Evaluates the overall variance in total direct emissions explained by the model.</a:t>
            </a:r>
          </a:p>
          <a:p>
            <a:pPr mar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Root Mean Squared Error(RMSE) : </a:t>
            </a:r>
            <a:r>
              <a:rPr lang="en-GB" sz="1800" dirty="0"/>
              <a:t>Measures prediction error magnitude while heavily penalizing larger forecasting deviations.</a:t>
            </a:r>
          </a:p>
          <a:p>
            <a:pPr marL="0" indent="0" eaLnBrk="0" fontAlgn="base" hangingPunct="0">
              <a:lnSpc>
                <a:spcPct val="100000"/>
              </a:lnSpc>
              <a:spcBef>
                <a:spcPct val="0"/>
              </a:spcBef>
              <a:spcAft>
                <a:spcPct val="0"/>
              </a:spcAft>
              <a:buFontTx/>
              <a:buChar char="•"/>
            </a:pPr>
            <a:r>
              <a:rPr lang="en-GB" altLang="en-US" sz="1800" dirty="0">
                <a:latin typeface="Arial" panose="020B0604020202020204" pitchFamily="34" charset="0"/>
              </a:rPr>
              <a:t>Mean </a:t>
            </a:r>
            <a:r>
              <a:rPr lang="en-GB" altLang="en-US" sz="1800" dirty="0" err="1">
                <a:latin typeface="Arial" panose="020B0604020202020204" pitchFamily="34" charset="0"/>
              </a:rPr>
              <a:t>Asolute</a:t>
            </a:r>
            <a:r>
              <a:rPr lang="en-GB" altLang="en-US" sz="1800" dirty="0">
                <a:latin typeface="Arial" panose="020B0604020202020204" pitchFamily="34" charset="0"/>
              </a:rPr>
              <a:t> Error(MAE) : </a:t>
            </a:r>
            <a:r>
              <a:rPr lang="en-GB" sz="1800" dirty="0"/>
              <a:t>Quantifies the average absolute error margin in metric tons of emissions.</a:t>
            </a:r>
            <a:endParaRPr lang="en-US" altLang="en-US" sz="1800" dirty="0">
              <a:latin typeface="Arial" panose="020B0604020202020204" pitchFamily="34" charset="0"/>
            </a:endParaRPr>
          </a:p>
        </p:txBody>
      </p:sp>
      <p:sp>
        <p:nvSpPr>
          <p:cNvPr id="10" name="Rectangle 1">
            <a:extLst>
              <a:ext uri="{FF2B5EF4-FFF2-40B4-BE49-F238E27FC236}">
                <a16:creationId xmlns:a16="http://schemas.microsoft.com/office/drawing/2014/main" id="{70761976-24E0-BB07-D0E0-D596F91B4988}"/>
              </a:ext>
            </a:extLst>
          </p:cNvPr>
          <p:cNvSpPr txBox="1">
            <a:spLocks noChangeArrowheads="1"/>
          </p:cNvSpPr>
          <p:nvPr/>
        </p:nvSpPr>
        <p:spPr bwMode="auto">
          <a:xfrm>
            <a:off x="71533" y="5749312"/>
            <a:ext cx="856764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Recursive Forecasting </a:t>
            </a:r>
            <a:r>
              <a:rPr lang="en-US" altLang="en-US" sz="1800" dirty="0">
                <a:latin typeface="Arial" panose="020B0604020202020204" pitchFamily="34" charset="0"/>
              </a:rPr>
              <a:t>:  Generated </a:t>
            </a:r>
            <a:r>
              <a:rPr lang="en-US" altLang="en-US" sz="1800" dirty="0" err="1">
                <a:latin typeface="Arial" panose="020B0604020202020204" pitchFamily="34" charset="0"/>
              </a:rPr>
              <a:t>sequentialfacility</a:t>
            </a:r>
            <a:r>
              <a:rPr lang="en-US" altLang="en-US" sz="1800" dirty="0">
                <a:latin typeface="Arial" panose="020B0604020202020204" pitchFamily="34" charset="0"/>
              </a:rPr>
              <a:t> level emission predictions for 2018-2020 where each year’s forecast was fed back into the model to predict the subsequent year</a:t>
            </a:r>
          </a:p>
        </p:txBody>
      </p:sp>
    </p:spTree>
    <p:extLst>
      <p:ext uri="{BB962C8B-B14F-4D97-AF65-F5344CB8AC3E}">
        <p14:creationId xmlns:p14="http://schemas.microsoft.com/office/powerpoint/2010/main" val="255642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48699FE-D307-EFB2-DD21-46FCB7D23AA3}"/>
              </a:ext>
            </a:extLst>
          </p:cNvPr>
          <p:cNvSpPr>
            <a:spLocks noGrp="1"/>
          </p:cNvSpPr>
          <p:nvPr>
            <p:ph type="title"/>
          </p:nvPr>
        </p:nvSpPr>
        <p:spPr/>
        <p:txBody>
          <a:bodyPr anchor="t">
            <a:normAutofit/>
          </a:bodyPr>
          <a:lstStyle/>
          <a:p>
            <a:r>
              <a:rPr lang="en-US" dirty="0"/>
              <a:t>Abdelrahman</a:t>
            </a:r>
            <a:br>
              <a:rPr lang="en-US" dirty="0"/>
            </a:br>
            <a:r>
              <a:rPr lang="en-US" dirty="0"/>
              <a:t>Mohamed</a:t>
            </a:r>
          </a:p>
        </p:txBody>
      </p:sp>
      <p:sp>
        <p:nvSpPr>
          <p:cNvPr id="17" name="Picture Placeholder 2">
            <a:extLst>
              <a:ext uri="{FF2B5EF4-FFF2-40B4-BE49-F238E27FC236}">
                <a16:creationId xmlns:a16="http://schemas.microsoft.com/office/drawing/2014/main" id="{273DBE2C-C805-1B57-620E-C4A1ABA605CB}"/>
              </a:ext>
            </a:extLst>
          </p:cNvPr>
          <p:cNvSpPr>
            <a:spLocks noGrp="1" noChangeAspect="1"/>
          </p:cNvSpPr>
          <p:nvPr>
            <p:ph type="pic" sz="quarter" idx="15"/>
          </p:nvPr>
        </p:nvSpPr>
        <p:spPr/>
        <p:txBody>
          <a:bodyPr/>
          <a:lstStyle/>
          <a:p>
            <a:endParaRPr lang="en-US"/>
          </a:p>
        </p:txBody>
      </p:sp>
      <p:graphicFrame>
        <p:nvGraphicFramePr>
          <p:cNvPr id="12" name="Content Placeholder 2">
            <a:extLst>
              <a:ext uri="{FF2B5EF4-FFF2-40B4-BE49-F238E27FC236}">
                <a16:creationId xmlns:a16="http://schemas.microsoft.com/office/drawing/2014/main" id="{12EA1137-26E4-405B-7AFC-155FE16DBBD4}"/>
              </a:ext>
            </a:extLst>
          </p:cNvPr>
          <p:cNvGraphicFramePr>
            <a:graphicFrameLocks noGrp="1"/>
          </p:cNvGraphicFramePr>
          <p:nvPr>
            <p:ph sz="quarter" idx="14"/>
            <p:extLst>
              <p:ext uri="{D42A27DB-BD31-4B8C-83A1-F6EECF244321}">
                <p14:modId xmlns:p14="http://schemas.microsoft.com/office/powerpoint/2010/main" val="351518523"/>
              </p:ext>
            </p:extLst>
          </p:nvPr>
        </p:nvGraphicFramePr>
        <p:xfrm>
          <a:off x="3352800" y="3429000"/>
          <a:ext cx="8210550" cy="3009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Picture 12">
            <a:extLst>
              <a:ext uri="{FF2B5EF4-FFF2-40B4-BE49-F238E27FC236}">
                <a16:creationId xmlns:a16="http://schemas.microsoft.com/office/drawing/2014/main" id="{F9006A8D-4538-4278-021C-F3861CF0C1A5}"/>
              </a:ext>
            </a:extLst>
          </p:cNvPr>
          <p:cNvPicPr>
            <a:picLocks noChangeAspect="1"/>
          </p:cNvPicPr>
          <p:nvPr/>
        </p:nvPicPr>
        <p:blipFill>
          <a:blip r:embed="rId7"/>
          <a:stretch>
            <a:fillRect/>
          </a:stretch>
        </p:blipFill>
        <p:spPr>
          <a:xfrm>
            <a:off x="0" y="0"/>
            <a:ext cx="12192000" cy="2143125"/>
          </a:xfrm>
          <a:prstGeom prst="rect">
            <a:avLst/>
          </a:prstGeom>
        </p:spPr>
      </p:pic>
    </p:spTree>
    <p:extLst>
      <p:ext uri="{BB962C8B-B14F-4D97-AF65-F5344CB8AC3E}">
        <p14:creationId xmlns:p14="http://schemas.microsoft.com/office/powerpoint/2010/main" val="3519881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28A0-2C55-C3CC-82F6-CBEDEB186CB1}"/>
              </a:ext>
            </a:extLst>
          </p:cNvPr>
          <p:cNvSpPr>
            <a:spLocks noGrp="1"/>
          </p:cNvSpPr>
          <p:nvPr>
            <p:ph type="title"/>
          </p:nvPr>
        </p:nvSpPr>
        <p:spPr/>
        <p:txBody>
          <a:bodyPr anchor="b">
            <a:normAutofit/>
          </a:bodyPr>
          <a:lstStyle/>
          <a:p>
            <a:r>
              <a:rPr lang="en-US" dirty="0"/>
              <a:t>MySQL &amp; Database Implementation</a:t>
            </a:r>
          </a:p>
        </p:txBody>
      </p:sp>
      <p:sp>
        <p:nvSpPr>
          <p:cNvPr id="8" name="Content Placeholder 2">
            <a:extLst>
              <a:ext uri="{FF2B5EF4-FFF2-40B4-BE49-F238E27FC236}">
                <a16:creationId xmlns:a16="http://schemas.microsoft.com/office/drawing/2014/main" id="{6B516A30-D830-5E77-5FBF-C0D6323B13F3}"/>
              </a:ext>
            </a:extLst>
          </p:cNvPr>
          <p:cNvSpPr>
            <a:spLocks noGrp="1"/>
          </p:cNvSpPr>
          <p:nvPr>
            <p:ph sz="quarter" idx="13"/>
          </p:nvPr>
        </p:nvSpPr>
        <p:spPr>
          <a:xfrm>
            <a:off x="6489290" y="1317524"/>
            <a:ext cx="5633883" cy="3548504"/>
          </a:xfrm>
        </p:spPr>
        <p:txBody>
          <a:bodyPr>
            <a:normAutofit fontScale="70000" lnSpcReduction="20000"/>
          </a:bodyPr>
          <a:lstStyle/>
          <a:p>
            <a:pPr lvl="0"/>
            <a:r>
              <a:rPr lang="en-US" sz="2100" dirty="0"/>
              <a:t>Designed and created the project database. </a:t>
            </a:r>
          </a:p>
          <a:p>
            <a:pPr lvl="0"/>
            <a:r>
              <a:rPr lang="en-US" sz="2100" dirty="0"/>
              <a:t>Created tables for </a:t>
            </a:r>
            <a:r>
              <a:rPr lang="en-US" sz="2100" b="1" dirty="0"/>
              <a:t>Companies, Emissions, Emission Sources, and Emission Factors</a:t>
            </a:r>
            <a:r>
              <a:rPr lang="en-US" sz="2100" dirty="0"/>
              <a:t>. </a:t>
            </a:r>
          </a:p>
          <a:p>
            <a:pPr lvl="0"/>
            <a:r>
              <a:rPr lang="en-US" sz="2100" dirty="0"/>
              <a:t>Used </a:t>
            </a:r>
            <a:r>
              <a:rPr lang="en-US" sz="2100" b="1" dirty="0"/>
              <a:t>Primary Keys and Foreign Keys</a:t>
            </a:r>
            <a:r>
              <a:rPr lang="en-US" sz="2100" dirty="0"/>
              <a:t> to establish relationships. </a:t>
            </a:r>
          </a:p>
          <a:p>
            <a:pPr lvl="0"/>
            <a:r>
              <a:rPr lang="en-US" sz="2100" dirty="0"/>
              <a:t>Used SQL queries to retrieve and analyze data. </a:t>
            </a:r>
          </a:p>
          <a:p>
            <a:pPr lvl="0"/>
            <a:r>
              <a:rPr lang="en-US" sz="2100" dirty="0"/>
              <a:t>Applied </a:t>
            </a:r>
            <a:r>
              <a:rPr lang="en-US" sz="2100" b="1" dirty="0"/>
              <a:t>JOIN, WHERE, GROUP BY, SUM, and ORDER BY</a:t>
            </a:r>
            <a:r>
              <a:rPr lang="en-US" sz="2100" dirty="0"/>
              <a:t>. </a:t>
            </a:r>
          </a:p>
          <a:p>
            <a:pPr lvl="0"/>
            <a:r>
              <a:rPr lang="en-US" sz="2100" dirty="0"/>
              <a:t>Calculated and ranked companies based on total emissions. </a:t>
            </a:r>
          </a:p>
          <a:p>
            <a:endParaRPr lang="en-US" dirty="0"/>
          </a:p>
        </p:txBody>
      </p:sp>
      <p:sp>
        <p:nvSpPr>
          <p:cNvPr id="10" name="Picture Placeholder 3">
            <a:extLst>
              <a:ext uri="{FF2B5EF4-FFF2-40B4-BE49-F238E27FC236}">
                <a16:creationId xmlns:a16="http://schemas.microsoft.com/office/drawing/2014/main" id="{0A28421D-555F-08E8-FA3C-CD5360D0B976}"/>
              </a:ext>
            </a:extLst>
          </p:cNvPr>
          <p:cNvSpPr>
            <a:spLocks noGrp="1" noChangeAspect="1"/>
          </p:cNvSpPr>
          <p:nvPr>
            <p:ph type="pic" sz="quarter" idx="17"/>
          </p:nvPr>
        </p:nvSpPr>
        <p:spPr/>
        <p:txBody>
          <a:bodyPr/>
          <a:lstStyle/>
          <a:p>
            <a:endParaRPr lang="en-US"/>
          </a:p>
        </p:txBody>
      </p:sp>
    </p:spTree>
    <p:extLst>
      <p:ext uri="{BB962C8B-B14F-4D97-AF65-F5344CB8AC3E}">
        <p14:creationId xmlns:p14="http://schemas.microsoft.com/office/powerpoint/2010/main" val="2016754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9B643E1-5489-5A03-2607-D7F0C40DB698}"/>
              </a:ext>
            </a:extLst>
          </p:cNvPr>
          <p:cNvSpPr>
            <a:spLocks noGrp="1"/>
          </p:cNvSpPr>
          <p:nvPr>
            <p:ph type="title"/>
          </p:nvPr>
        </p:nvSpPr>
        <p:spPr>
          <a:xfrm>
            <a:off x="1104900" y="2464969"/>
            <a:ext cx="4757017" cy="553534"/>
          </a:xfrm>
        </p:spPr>
        <p:txBody>
          <a:bodyPr/>
          <a:lstStyle/>
          <a:p>
            <a:r>
              <a:rPr lang="en-US" dirty="0"/>
              <a:t>Yearly Emissions Analysis</a:t>
            </a:r>
          </a:p>
        </p:txBody>
      </p:sp>
      <p:pic>
        <p:nvPicPr>
          <p:cNvPr id="6" name="Content Placeholder 5">
            <a:extLst>
              <a:ext uri="{FF2B5EF4-FFF2-40B4-BE49-F238E27FC236}">
                <a16:creationId xmlns:a16="http://schemas.microsoft.com/office/drawing/2014/main" id="{EB0D947B-9929-806E-0E1B-C92BED4665D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104900" y="1032661"/>
            <a:ext cx="4991100" cy="1289929"/>
          </a:xfrm>
          <a:prstGeom prst="rect">
            <a:avLst/>
          </a:prstGeom>
        </p:spPr>
      </p:pic>
      <p:pic>
        <p:nvPicPr>
          <p:cNvPr id="8" name="Picture 7">
            <a:extLst>
              <a:ext uri="{FF2B5EF4-FFF2-40B4-BE49-F238E27FC236}">
                <a16:creationId xmlns:a16="http://schemas.microsoft.com/office/drawing/2014/main" id="{5C0CE82E-0C9B-BC76-AB9A-7EC796767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9867" y="1017470"/>
            <a:ext cx="4934639" cy="1289929"/>
          </a:xfrm>
          <a:prstGeom prst="rect">
            <a:avLst/>
          </a:prstGeom>
        </p:spPr>
      </p:pic>
      <p:sp>
        <p:nvSpPr>
          <p:cNvPr id="10" name="Title 1">
            <a:extLst>
              <a:ext uri="{FF2B5EF4-FFF2-40B4-BE49-F238E27FC236}">
                <a16:creationId xmlns:a16="http://schemas.microsoft.com/office/drawing/2014/main" id="{84355A41-FDF5-E337-EBCD-A516E5A91587}"/>
              </a:ext>
            </a:extLst>
          </p:cNvPr>
          <p:cNvSpPr txBox="1">
            <a:spLocks/>
          </p:cNvSpPr>
          <p:nvPr/>
        </p:nvSpPr>
        <p:spPr>
          <a:xfrm>
            <a:off x="6330083" y="2464969"/>
            <a:ext cx="4757017" cy="553534"/>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dirty="0"/>
              <a:t>Industry Emissions Ranking</a:t>
            </a:r>
          </a:p>
        </p:txBody>
      </p:sp>
      <p:pic>
        <p:nvPicPr>
          <p:cNvPr id="13" name="Picture 12">
            <a:extLst>
              <a:ext uri="{FF2B5EF4-FFF2-40B4-BE49-F238E27FC236}">
                <a16:creationId xmlns:a16="http://schemas.microsoft.com/office/drawing/2014/main" id="{FF1BA5F9-EFD6-6851-1DD3-048440946D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6367" y="3018503"/>
            <a:ext cx="4991100" cy="2257740"/>
          </a:xfrm>
          <a:prstGeom prst="rect">
            <a:avLst/>
          </a:prstGeom>
        </p:spPr>
      </p:pic>
      <p:sp>
        <p:nvSpPr>
          <p:cNvPr id="14" name="Title 1">
            <a:extLst>
              <a:ext uri="{FF2B5EF4-FFF2-40B4-BE49-F238E27FC236}">
                <a16:creationId xmlns:a16="http://schemas.microsoft.com/office/drawing/2014/main" id="{FE55D5D9-68F8-EA6F-1021-C263D47A32DA}"/>
              </a:ext>
            </a:extLst>
          </p:cNvPr>
          <p:cNvSpPr txBox="1">
            <a:spLocks/>
          </p:cNvSpPr>
          <p:nvPr/>
        </p:nvSpPr>
        <p:spPr>
          <a:xfrm>
            <a:off x="3366367" y="5548572"/>
            <a:ext cx="4757017" cy="553534"/>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dirty="0"/>
              <a:t>Highest-Emission Facilities</a:t>
            </a:r>
          </a:p>
        </p:txBody>
      </p:sp>
    </p:spTree>
    <p:extLst>
      <p:ext uri="{BB962C8B-B14F-4D97-AF65-F5344CB8AC3E}">
        <p14:creationId xmlns:p14="http://schemas.microsoft.com/office/powerpoint/2010/main" val="3841070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49E21F8-BAC0-BDB8-4D66-3E04EB249599}"/>
              </a:ext>
            </a:extLst>
          </p:cNvPr>
          <p:cNvSpPr>
            <a:spLocks noGrp="1"/>
          </p:cNvSpPr>
          <p:nvPr>
            <p:ph type="title"/>
          </p:nvPr>
        </p:nvSpPr>
        <p:spPr>
          <a:xfrm>
            <a:off x="1269482" y="5848345"/>
            <a:ext cx="9830017" cy="731520"/>
          </a:xfrm>
        </p:spPr>
        <p:txBody>
          <a:bodyPr>
            <a:normAutofit fontScale="90000"/>
          </a:bodyPr>
          <a:lstStyle/>
          <a:p>
            <a:r>
              <a:rPr lang="en-US" b="1" dirty="0"/>
              <a:t>Data Model Structure</a:t>
            </a:r>
            <a:br>
              <a:rPr lang="en-US" dirty="0"/>
            </a:br>
            <a:r>
              <a:rPr lang="en-US" dirty="0"/>
              <a:t>Organizing emissions data into related tables to support analysis and reporting.</a:t>
            </a:r>
            <a:br>
              <a:rPr lang="en-US" dirty="0"/>
            </a:br>
            <a:endParaRPr lang="en-US" dirty="0"/>
          </a:p>
        </p:txBody>
      </p:sp>
      <p:pic>
        <p:nvPicPr>
          <p:cNvPr id="5" name="Content Placeholder 4">
            <a:extLst>
              <a:ext uri="{FF2B5EF4-FFF2-40B4-BE49-F238E27FC236}">
                <a16:creationId xmlns:a16="http://schemas.microsoft.com/office/drawing/2014/main" id="{122E2656-3F8F-3E9D-9A00-3611100CFCA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0"/>
            <a:ext cx="12192000" cy="5084466"/>
          </a:xfrm>
          <a:prstGeom prst="rect">
            <a:avLst/>
          </a:prstGeom>
          <a:noFill/>
        </p:spPr>
      </p:pic>
    </p:spTree>
    <p:extLst>
      <p:ext uri="{BB962C8B-B14F-4D97-AF65-F5344CB8AC3E}">
        <p14:creationId xmlns:p14="http://schemas.microsoft.com/office/powerpoint/2010/main" val="3480340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1B42-565F-C7B8-46CD-09ECB426F01E}"/>
              </a:ext>
            </a:extLst>
          </p:cNvPr>
          <p:cNvSpPr>
            <a:spLocks noGrp="1"/>
          </p:cNvSpPr>
          <p:nvPr>
            <p:ph type="title"/>
          </p:nvPr>
        </p:nvSpPr>
        <p:spPr>
          <a:xfrm>
            <a:off x="95274" y="555134"/>
            <a:ext cx="9830017" cy="731520"/>
          </a:xfrm>
        </p:spPr>
        <p:txBody>
          <a:bodyPr/>
          <a:lstStyle/>
          <a:p>
            <a:r>
              <a:rPr lang="en-US" b="1" dirty="0"/>
              <a:t>Interactive Carbon Emissions Dashboard</a:t>
            </a:r>
          </a:p>
        </p:txBody>
      </p:sp>
      <p:pic>
        <p:nvPicPr>
          <p:cNvPr id="5" name="Content Placeholder 4">
            <a:extLst>
              <a:ext uri="{FF2B5EF4-FFF2-40B4-BE49-F238E27FC236}">
                <a16:creationId xmlns:a16="http://schemas.microsoft.com/office/drawing/2014/main" id="{730DB6DB-152C-97DF-82A4-CB206B09C78D}"/>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090093" y="2011363"/>
            <a:ext cx="7826076" cy="4389437"/>
          </a:xfrm>
          <a:prstGeom prst="rect">
            <a:avLst/>
          </a:prstGeom>
        </p:spPr>
      </p:pic>
    </p:spTree>
    <p:extLst>
      <p:ext uri="{BB962C8B-B14F-4D97-AF65-F5344CB8AC3E}">
        <p14:creationId xmlns:p14="http://schemas.microsoft.com/office/powerpoint/2010/main" val="3116381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F2EE2-82C7-78DE-19D9-C56E88A305C1}"/>
              </a:ext>
            </a:extLst>
          </p:cNvPr>
          <p:cNvSpPr>
            <a:spLocks noGrp="1"/>
          </p:cNvSpPr>
          <p:nvPr>
            <p:ph type="title"/>
          </p:nvPr>
        </p:nvSpPr>
        <p:spPr>
          <a:xfrm>
            <a:off x="491928" y="4188963"/>
            <a:ext cx="4285049" cy="731520"/>
          </a:xfrm>
        </p:spPr>
        <p:txBody>
          <a:bodyPr/>
          <a:lstStyle/>
          <a:p>
            <a:r>
              <a:rPr lang="en-US" dirty="0"/>
              <a:t>Top 15 facility in DE</a:t>
            </a:r>
          </a:p>
        </p:txBody>
      </p:sp>
      <p:pic>
        <p:nvPicPr>
          <p:cNvPr id="5" name="Content Placeholder 4">
            <a:extLst>
              <a:ext uri="{FF2B5EF4-FFF2-40B4-BE49-F238E27FC236}">
                <a16:creationId xmlns:a16="http://schemas.microsoft.com/office/drawing/2014/main" id="{42314FD8-9AD8-2CE1-A25A-2BC68ED388B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91928" y="1748253"/>
            <a:ext cx="4285049" cy="2233811"/>
          </a:xfrm>
          <a:prstGeom prst="rect">
            <a:avLst/>
          </a:prstGeom>
        </p:spPr>
      </p:pic>
      <p:pic>
        <p:nvPicPr>
          <p:cNvPr id="7" name="Picture 6">
            <a:extLst>
              <a:ext uri="{FF2B5EF4-FFF2-40B4-BE49-F238E27FC236}">
                <a16:creationId xmlns:a16="http://schemas.microsoft.com/office/drawing/2014/main" id="{541C6392-C58A-2F3C-42B9-AAD65347DA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3514" y="1748253"/>
            <a:ext cx="4285924" cy="2233811"/>
          </a:xfrm>
          <a:prstGeom prst="rect">
            <a:avLst/>
          </a:prstGeom>
        </p:spPr>
      </p:pic>
      <p:sp>
        <p:nvSpPr>
          <p:cNvPr id="8" name="TextBox 7">
            <a:extLst>
              <a:ext uri="{FF2B5EF4-FFF2-40B4-BE49-F238E27FC236}">
                <a16:creationId xmlns:a16="http://schemas.microsoft.com/office/drawing/2014/main" id="{9BBB6CAE-742E-B538-20A4-2AB247F92076}"/>
              </a:ext>
            </a:extLst>
          </p:cNvPr>
          <p:cNvSpPr txBox="1"/>
          <p:nvPr/>
        </p:nvSpPr>
        <p:spPr>
          <a:xfrm>
            <a:off x="7103514" y="4397263"/>
            <a:ext cx="4285049" cy="523220"/>
          </a:xfrm>
          <a:prstGeom prst="rect">
            <a:avLst/>
          </a:prstGeom>
          <a:noFill/>
        </p:spPr>
        <p:txBody>
          <a:bodyPr wrap="square" rtlCol="0">
            <a:spAutoFit/>
          </a:bodyPr>
          <a:lstStyle/>
          <a:p>
            <a:r>
              <a:rPr lang="en-US" sz="2800" dirty="0"/>
              <a:t>Bottom 15 facility in DE</a:t>
            </a:r>
          </a:p>
        </p:txBody>
      </p:sp>
    </p:spTree>
    <p:extLst>
      <p:ext uri="{BB962C8B-B14F-4D97-AF65-F5344CB8AC3E}">
        <p14:creationId xmlns:p14="http://schemas.microsoft.com/office/powerpoint/2010/main" val="605748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title"/>
          </p:nvPr>
        </p:nvSpPr>
        <p:spPr>
          <a:xfrm>
            <a:off x="3018499" y="952500"/>
            <a:ext cx="8887299" cy="5636798"/>
          </a:xfrm>
        </p:spPr>
        <p:txBody>
          <a:bodyPr spcFirstLastPara="1" vert="horz" lIns="121900" tIns="121900" rIns="121900" bIns="121900" rtlCol="0" anchor="b" anchorCtr="0">
            <a:normAutofit/>
          </a:bodyPr>
          <a:lstStyle/>
          <a:p>
            <a:pPr>
              <a:spcBef>
                <a:spcPts val="0"/>
              </a:spcBef>
            </a:pPr>
            <a:r>
              <a:rPr lang="en-US"/>
              <a:t>Python : Data Cleaning &amp;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4"/>
          <p:cNvSpPr txBox="1">
            <a:spLocks noGrp="1"/>
          </p:cNvSpPr>
          <p:nvPr>
            <p:ph type="ctrTitle"/>
          </p:nvPr>
        </p:nvSpPr>
        <p:spPr>
          <a:xfrm>
            <a:off x="357200" y="178600"/>
            <a:ext cx="11358800" cy="6572400"/>
          </a:xfrm>
          <a:prstGeom prst="rect">
            <a:avLst/>
          </a:prstGeom>
        </p:spPr>
        <p:txBody>
          <a:bodyPr spcFirstLastPara="1" vert="horz" wrap="square" lIns="121900" tIns="121900" rIns="121900" bIns="121900" rtlCol="0" anchor="ctr" anchorCtr="0">
            <a:normAutofit/>
          </a:bodyPr>
          <a:lstStyle/>
          <a:p>
            <a:pPr algn="l">
              <a:lnSpc>
                <a:spcPct val="115000"/>
              </a:lnSpc>
              <a:spcBef>
                <a:spcPts val="1600"/>
              </a:spcBef>
            </a:pPr>
            <a:r>
              <a:rPr lang="ar" sz="5800">
                <a:latin typeface="Arial"/>
                <a:ea typeface="Arial"/>
                <a:cs typeface="Arial"/>
                <a:sym typeface="Arial"/>
              </a:rPr>
              <a:t>Data cleaning </a:t>
            </a:r>
            <a:endParaRPr sz="5800">
              <a:latin typeface="Arial"/>
              <a:ea typeface="Arial"/>
              <a:cs typeface="Arial"/>
              <a:sym typeface="Arial"/>
            </a:endParaRPr>
          </a:p>
          <a:p>
            <a:pPr algn="l">
              <a:lnSpc>
                <a:spcPct val="115000"/>
              </a:lnSpc>
              <a:spcBef>
                <a:spcPts val="1600"/>
              </a:spcBef>
              <a:spcAft>
                <a:spcPts val="1600"/>
              </a:spcAft>
            </a:pPr>
            <a:r>
              <a:rPr lang="ar" sz="3600">
                <a:latin typeface="Arial"/>
                <a:ea typeface="Arial"/>
                <a:cs typeface="Arial"/>
                <a:sym typeface="Arial"/>
              </a:rPr>
              <a:t>Data Cleaning is a crucial step in any data Analysis project. Real-world data is often messy, containing missing values, duplicates, and inconsistencies. Using Python, we systematically clean and prepare our dataset—handling anomalies and ensuring high data integrity—to build accurate and reliable analytical models.</a:t>
            </a:r>
            <a:endParaRPr sz="3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5"/>
          <p:cNvSpPr txBox="1">
            <a:spLocks noGrp="1"/>
          </p:cNvSpPr>
          <p:nvPr>
            <p:ph type="title"/>
          </p:nvPr>
        </p:nvSpPr>
        <p:spPr>
          <a:xfrm>
            <a:off x="3018499" y="952500"/>
            <a:ext cx="8887299" cy="5636798"/>
          </a:xfrm>
        </p:spPr>
        <p:txBody>
          <a:bodyPr spcFirstLastPara="1" vert="horz" lIns="121900" tIns="121900" rIns="121900" bIns="121900" rtlCol="0" anchor="b" anchorCtr="0">
            <a:normAutofit/>
          </a:bodyPr>
          <a:lstStyle/>
          <a:p>
            <a:pPr>
              <a:spcBef>
                <a:spcPts val="1600"/>
              </a:spcBef>
              <a:spcAft>
                <a:spcPts val="1600"/>
              </a:spcAft>
            </a:pPr>
            <a:r>
              <a:rPr lang="en-US" sz="4000"/>
              <a:t>The raw dataset we have is completely unorganized and messy. It requires major preprocessing, such as handling missing values, removing duplicates, and properly organizing text columns, alongside other adjustments that we will explore together in the upcoming slides.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6"/>
          <p:cNvSpPr txBox="1">
            <a:spLocks noGrp="1"/>
          </p:cNvSpPr>
          <p:nvPr>
            <p:ph type="ctrTitle"/>
          </p:nvPr>
        </p:nvSpPr>
        <p:spPr>
          <a:xfrm>
            <a:off x="0" y="0"/>
            <a:ext cx="12192000" cy="6751200"/>
          </a:xfrm>
          <a:prstGeom prst="rect">
            <a:avLst/>
          </a:prstGeom>
        </p:spPr>
        <p:txBody>
          <a:bodyPr spcFirstLastPara="1" vert="horz" wrap="square" lIns="121900" tIns="121900" rIns="121900" bIns="121900" rtlCol="0" anchor="ctr" anchorCtr="0">
            <a:normAutofit/>
          </a:bodyPr>
          <a:lstStyle/>
          <a:p>
            <a:pPr algn="l">
              <a:lnSpc>
                <a:spcPct val="115000"/>
              </a:lnSpc>
              <a:spcBef>
                <a:spcPts val="1600"/>
              </a:spcBef>
              <a:spcAft>
                <a:spcPts val="1600"/>
              </a:spcAft>
            </a:pPr>
            <a:endParaRPr sz="3867"/>
          </a:p>
        </p:txBody>
      </p:sp>
      <p:pic>
        <p:nvPicPr>
          <p:cNvPr id="293" name="Google Shape;293;p16" title="Screenshot 2026-09-12 033540.png"/>
          <p:cNvPicPr preferRelativeResize="0"/>
          <p:nvPr/>
        </p:nvPicPr>
        <p:blipFill>
          <a:blip r:embed="rId3">
            <a:alphaModFix/>
          </a:blip>
          <a:stretch>
            <a:fillRect/>
          </a:stretch>
        </p:blipFill>
        <p:spPr>
          <a:xfrm>
            <a:off x="-8883" y="2205467"/>
            <a:ext cx="10072667" cy="1410167"/>
          </a:xfrm>
          <a:prstGeom prst="rect">
            <a:avLst/>
          </a:prstGeom>
          <a:noFill/>
          <a:ln>
            <a:noFill/>
          </a:ln>
        </p:spPr>
      </p:pic>
      <p:sp>
        <p:nvSpPr>
          <p:cNvPr id="294" name="Google Shape;294;p16"/>
          <p:cNvSpPr txBox="1"/>
          <p:nvPr/>
        </p:nvSpPr>
        <p:spPr>
          <a:xfrm>
            <a:off x="0" y="482201"/>
            <a:ext cx="10769200" cy="1436378"/>
          </a:xfrm>
          <a:prstGeom prst="rect">
            <a:avLst/>
          </a:prstGeom>
          <a:noFill/>
          <a:ln>
            <a:noFill/>
          </a:ln>
        </p:spPr>
        <p:txBody>
          <a:bodyPr spcFirstLastPara="1" wrap="square" lIns="121900" tIns="121900" rIns="121900" bIns="121900" anchor="t" anchorCtr="0">
            <a:spAutoFit/>
          </a:bodyPr>
          <a:lstStyle/>
          <a:p>
            <a:r>
              <a:rPr lang="ar" sz="3867">
                <a:solidFill>
                  <a:schemeClr val="lt1"/>
                </a:solidFill>
                <a:latin typeface="Nunito"/>
                <a:ea typeface="Nunito"/>
                <a:cs typeface="Nunito"/>
                <a:sym typeface="Nunito"/>
              </a:rPr>
              <a:t>Importing Pandas &amp; NumPy Libraries and Loading the CarbonIQ Dataset </a:t>
            </a:r>
            <a:endParaRPr sz="3867">
              <a:solidFill>
                <a:schemeClr val="lt1"/>
              </a:solidFill>
              <a:latin typeface="Nunito"/>
              <a:ea typeface="Nunito"/>
              <a:cs typeface="Nunito"/>
              <a:sym typeface="Nunito"/>
            </a:endParaRPr>
          </a:p>
        </p:txBody>
      </p:sp>
      <p:sp>
        <p:nvSpPr>
          <p:cNvPr id="295" name="Google Shape;295;p16"/>
          <p:cNvSpPr txBox="1"/>
          <p:nvPr/>
        </p:nvSpPr>
        <p:spPr>
          <a:xfrm>
            <a:off x="-16" y="3615618"/>
            <a:ext cx="10287200" cy="1395085"/>
          </a:xfrm>
          <a:prstGeom prst="rect">
            <a:avLst/>
          </a:prstGeom>
          <a:noFill/>
          <a:ln>
            <a:noFill/>
          </a:ln>
        </p:spPr>
        <p:txBody>
          <a:bodyPr spcFirstLastPara="1" wrap="square" lIns="121900" tIns="121900" rIns="121900" bIns="121900" anchor="t" anchorCtr="0">
            <a:spAutoFit/>
          </a:bodyPr>
          <a:lstStyle/>
          <a:p>
            <a:r>
              <a:rPr lang="ar" sz="3733">
                <a:solidFill>
                  <a:schemeClr val="lt1"/>
                </a:solidFill>
                <a:latin typeface="Nunito"/>
                <a:ea typeface="Nunito"/>
                <a:cs typeface="Nunito"/>
                <a:sym typeface="Nunito"/>
              </a:rPr>
              <a:t>Inspecting DataFrame Structure Using df.info() (54,834 Entries and 53 Columns)</a:t>
            </a:r>
            <a:endParaRPr sz="1333">
              <a:solidFill>
                <a:schemeClr val="dk2"/>
              </a:solidFill>
              <a:latin typeface="Nunito"/>
              <a:ea typeface="Nunito"/>
              <a:cs typeface="Nunito"/>
              <a:sym typeface="Nunito"/>
            </a:endParaRPr>
          </a:p>
        </p:txBody>
      </p:sp>
      <p:pic>
        <p:nvPicPr>
          <p:cNvPr id="296" name="Google Shape;296;p16" title="Screenshot 2026-09-12 034557.png"/>
          <p:cNvPicPr preferRelativeResize="0"/>
          <p:nvPr/>
        </p:nvPicPr>
        <p:blipFill>
          <a:blip r:embed="rId4">
            <a:alphaModFix/>
          </a:blip>
          <a:stretch>
            <a:fillRect/>
          </a:stretch>
        </p:blipFill>
        <p:spPr>
          <a:xfrm>
            <a:off x="-8866" y="5112901"/>
            <a:ext cx="9536900" cy="1638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ctrTitle"/>
          </p:nvPr>
        </p:nvSpPr>
        <p:spPr>
          <a:xfrm>
            <a:off x="0" y="0"/>
            <a:ext cx="12192000" cy="6751200"/>
          </a:xfrm>
          <a:prstGeom prst="rect">
            <a:avLst/>
          </a:prstGeom>
        </p:spPr>
        <p:txBody>
          <a:bodyPr spcFirstLastPara="1" vert="horz" wrap="square" lIns="121900" tIns="121900" rIns="121900" bIns="121900" rtlCol="0" anchor="ctr" anchorCtr="0">
            <a:normAutofit/>
          </a:bodyPr>
          <a:lstStyle/>
          <a:p>
            <a:pPr algn="l">
              <a:lnSpc>
                <a:spcPct val="115000"/>
              </a:lnSpc>
              <a:spcBef>
                <a:spcPts val="1600"/>
              </a:spcBef>
              <a:spcAft>
                <a:spcPts val="1600"/>
              </a:spcAft>
            </a:pPr>
            <a:endParaRPr sz="3867"/>
          </a:p>
        </p:txBody>
      </p:sp>
      <p:sp>
        <p:nvSpPr>
          <p:cNvPr id="302" name="Google Shape;302;p17"/>
          <p:cNvSpPr txBox="1"/>
          <p:nvPr/>
        </p:nvSpPr>
        <p:spPr>
          <a:xfrm>
            <a:off x="392900" y="214267"/>
            <a:ext cx="10769200" cy="1231066"/>
          </a:xfrm>
          <a:prstGeom prst="rect">
            <a:avLst/>
          </a:prstGeom>
          <a:noFill/>
          <a:ln>
            <a:noFill/>
          </a:ln>
        </p:spPr>
        <p:txBody>
          <a:bodyPr spcFirstLastPara="1" wrap="square" lIns="121900" tIns="121900" rIns="121900" bIns="121900" anchor="t" anchorCtr="0">
            <a:spAutoFit/>
          </a:bodyPr>
          <a:lstStyle/>
          <a:p>
            <a:r>
              <a:rPr lang="ar" sz="3200">
                <a:solidFill>
                  <a:schemeClr val="lt1"/>
                </a:solidFill>
              </a:rPr>
              <a:t>Displaying Raw Data Preview using </a:t>
            </a:r>
            <a:r>
              <a:rPr lang="ar" sz="3200">
                <a:solidFill>
                  <a:schemeClr val="lt1"/>
                </a:solidFill>
                <a:latin typeface="Roboto Mono"/>
                <a:ea typeface="Roboto Mono"/>
                <a:cs typeface="Roboto Mono"/>
                <a:sym typeface="Roboto Mono"/>
              </a:rPr>
              <a:t>df</a:t>
            </a:r>
            <a:r>
              <a:rPr lang="ar" sz="3200">
                <a:solidFill>
                  <a:schemeClr val="lt1"/>
                </a:solidFill>
              </a:rPr>
              <a:t> (Showing Unstructured Rows, Missing Values, and Messy Formats) </a:t>
            </a:r>
            <a:endParaRPr sz="5867">
              <a:solidFill>
                <a:schemeClr val="lt1"/>
              </a:solidFill>
              <a:latin typeface="Nunito"/>
              <a:ea typeface="Nunito"/>
              <a:cs typeface="Nunito"/>
              <a:sym typeface="Nunito"/>
            </a:endParaRPr>
          </a:p>
        </p:txBody>
      </p:sp>
      <p:pic>
        <p:nvPicPr>
          <p:cNvPr id="303" name="Google Shape;303;p17" title="Screenshot 2026-09-12 035527.png"/>
          <p:cNvPicPr preferRelativeResize="0"/>
          <p:nvPr/>
        </p:nvPicPr>
        <p:blipFill>
          <a:blip r:embed="rId3">
            <a:alphaModFix/>
          </a:blip>
          <a:stretch>
            <a:fillRect/>
          </a:stretch>
        </p:blipFill>
        <p:spPr>
          <a:xfrm>
            <a:off x="-31533" y="1338667"/>
            <a:ext cx="12191999" cy="551933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8"/>
          <p:cNvSpPr txBox="1">
            <a:spLocks noGrp="1"/>
          </p:cNvSpPr>
          <p:nvPr>
            <p:ph type="ctrTitle"/>
          </p:nvPr>
        </p:nvSpPr>
        <p:spPr>
          <a:xfrm>
            <a:off x="0" y="0"/>
            <a:ext cx="12192000" cy="6751200"/>
          </a:xfrm>
          <a:prstGeom prst="rect">
            <a:avLst/>
          </a:prstGeom>
        </p:spPr>
        <p:txBody>
          <a:bodyPr spcFirstLastPara="1" vert="horz" wrap="square" lIns="121900" tIns="121900" rIns="121900" bIns="121900" rtlCol="0" anchor="ctr" anchorCtr="0">
            <a:normAutofit/>
          </a:bodyPr>
          <a:lstStyle/>
          <a:p>
            <a:pPr algn="l">
              <a:lnSpc>
                <a:spcPct val="115000"/>
              </a:lnSpc>
              <a:spcBef>
                <a:spcPts val="1600"/>
              </a:spcBef>
              <a:spcAft>
                <a:spcPts val="1600"/>
              </a:spcAft>
            </a:pPr>
            <a:endParaRPr sz="3867"/>
          </a:p>
        </p:txBody>
      </p:sp>
      <p:sp>
        <p:nvSpPr>
          <p:cNvPr id="309" name="Google Shape;309;p18"/>
          <p:cNvSpPr txBox="1"/>
          <p:nvPr/>
        </p:nvSpPr>
        <p:spPr>
          <a:xfrm>
            <a:off x="160700" y="1"/>
            <a:ext cx="10769200" cy="1231066"/>
          </a:xfrm>
          <a:prstGeom prst="rect">
            <a:avLst/>
          </a:prstGeom>
          <a:noFill/>
          <a:ln>
            <a:noFill/>
          </a:ln>
        </p:spPr>
        <p:txBody>
          <a:bodyPr spcFirstLastPara="1" wrap="square" lIns="121900" tIns="121900" rIns="121900" bIns="121900" anchor="t" anchorCtr="0">
            <a:spAutoFit/>
          </a:bodyPr>
          <a:lstStyle/>
          <a:p>
            <a:r>
              <a:rPr lang="ar" sz="3200">
                <a:solidFill>
                  <a:schemeClr val="lt1"/>
                </a:solidFill>
              </a:rPr>
              <a:t>Raw Data Inspection: Widespread Null Values, Irregular Formatting, and Data Quality Issues  </a:t>
            </a:r>
            <a:endParaRPr sz="5867">
              <a:solidFill>
                <a:schemeClr val="lt1"/>
              </a:solidFill>
              <a:latin typeface="Nunito"/>
              <a:ea typeface="Nunito"/>
              <a:cs typeface="Nunito"/>
              <a:sym typeface="Nunito"/>
            </a:endParaRPr>
          </a:p>
        </p:txBody>
      </p:sp>
      <p:pic>
        <p:nvPicPr>
          <p:cNvPr id="310" name="Google Shape;310;p18" title="Screenshot 2026-09-12 035637.png"/>
          <p:cNvPicPr preferRelativeResize="0"/>
          <p:nvPr/>
        </p:nvPicPr>
        <p:blipFill>
          <a:blip r:embed="rId3">
            <a:alphaModFix/>
          </a:blip>
          <a:stretch>
            <a:fillRect/>
          </a:stretch>
        </p:blipFill>
        <p:spPr>
          <a:xfrm>
            <a:off x="0" y="1231200"/>
            <a:ext cx="12192000" cy="5626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txBox="1">
            <a:spLocks noGrp="1"/>
          </p:cNvSpPr>
          <p:nvPr>
            <p:ph type="ctrTitle"/>
          </p:nvPr>
        </p:nvSpPr>
        <p:spPr>
          <a:xfrm>
            <a:off x="0" y="0"/>
            <a:ext cx="12192000" cy="6751200"/>
          </a:xfrm>
          <a:prstGeom prst="rect">
            <a:avLst/>
          </a:prstGeom>
        </p:spPr>
        <p:txBody>
          <a:bodyPr spcFirstLastPara="1" vert="horz" wrap="square" lIns="121900" tIns="121900" rIns="121900" bIns="121900" rtlCol="0" anchor="ctr" anchorCtr="0">
            <a:normAutofit/>
          </a:bodyPr>
          <a:lstStyle/>
          <a:p>
            <a:pPr algn="l">
              <a:lnSpc>
                <a:spcPct val="115000"/>
              </a:lnSpc>
              <a:spcBef>
                <a:spcPts val="0"/>
              </a:spcBef>
            </a:pPr>
            <a:endParaRPr sz="2667">
              <a:latin typeface="Arial"/>
              <a:ea typeface="Arial"/>
              <a:cs typeface="Arial"/>
              <a:sym typeface="Arial"/>
            </a:endParaRPr>
          </a:p>
          <a:p>
            <a:pPr algn="l">
              <a:lnSpc>
                <a:spcPct val="115000"/>
              </a:lnSpc>
              <a:spcBef>
                <a:spcPts val="1600"/>
              </a:spcBef>
              <a:spcAft>
                <a:spcPts val="1600"/>
              </a:spcAft>
            </a:pPr>
            <a:endParaRPr sz="3867"/>
          </a:p>
        </p:txBody>
      </p:sp>
      <p:pic>
        <p:nvPicPr>
          <p:cNvPr id="316" name="Google Shape;316;p19" title="Screenshot 2026-09-12 043100.png"/>
          <p:cNvPicPr preferRelativeResize="0"/>
          <p:nvPr/>
        </p:nvPicPr>
        <p:blipFill>
          <a:blip r:embed="rId3">
            <a:alphaModFix/>
          </a:blip>
          <a:stretch>
            <a:fillRect/>
          </a:stretch>
        </p:blipFill>
        <p:spPr>
          <a:xfrm>
            <a:off x="446468" y="1257033"/>
            <a:ext cx="7715233" cy="1149200"/>
          </a:xfrm>
          <a:prstGeom prst="rect">
            <a:avLst/>
          </a:prstGeom>
          <a:noFill/>
          <a:ln>
            <a:noFill/>
          </a:ln>
        </p:spPr>
      </p:pic>
      <p:sp>
        <p:nvSpPr>
          <p:cNvPr id="317" name="Google Shape;317;p19"/>
          <p:cNvSpPr txBox="1"/>
          <p:nvPr/>
        </p:nvSpPr>
        <p:spPr>
          <a:xfrm>
            <a:off x="178600" y="89300"/>
            <a:ext cx="11680000" cy="1071200"/>
          </a:xfrm>
          <a:prstGeom prst="rect">
            <a:avLst/>
          </a:prstGeom>
          <a:noFill/>
          <a:ln>
            <a:noFill/>
          </a:ln>
        </p:spPr>
        <p:txBody>
          <a:bodyPr spcFirstLastPara="1" wrap="square" lIns="121900" tIns="121900" rIns="121900" bIns="121900" anchor="t" anchorCtr="0">
            <a:noAutofit/>
          </a:bodyPr>
          <a:lstStyle/>
          <a:p>
            <a:r>
              <a:rPr lang="ar" sz="3067">
                <a:solidFill>
                  <a:schemeClr val="lt1"/>
                </a:solidFill>
                <a:latin typeface="Nunito"/>
                <a:ea typeface="Nunito"/>
                <a:cs typeface="Nunito"/>
                <a:sym typeface="Nunito"/>
              </a:rPr>
              <a:t>Zero Duplicate Rows Verified: Complete Absence of Redundant Records in the Dataset </a:t>
            </a:r>
            <a:endParaRPr sz="3067">
              <a:solidFill>
                <a:schemeClr val="lt1"/>
              </a:solidFill>
              <a:latin typeface="Nunito"/>
              <a:ea typeface="Nunito"/>
              <a:cs typeface="Nunito"/>
              <a:sym typeface="Nunito"/>
            </a:endParaRPr>
          </a:p>
        </p:txBody>
      </p:sp>
      <p:pic>
        <p:nvPicPr>
          <p:cNvPr id="318" name="Google Shape;318;p19" title="Screenshot 2026-09-12 043436.png"/>
          <p:cNvPicPr preferRelativeResize="0"/>
          <p:nvPr/>
        </p:nvPicPr>
        <p:blipFill>
          <a:blip r:embed="rId4">
            <a:alphaModFix/>
          </a:blip>
          <a:stretch>
            <a:fillRect/>
          </a:stretch>
        </p:blipFill>
        <p:spPr>
          <a:xfrm>
            <a:off x="446467" y="4705001"/>
            <a:ext cx="7715232" cy="1260033"/>
          </a:xfrm>
          <a:prstGeom prst="rect">
            <a:avLst/>
          </a:prstGeom>
          <a:noFill/>
          <a:ln>
            <a:noFill/>
          </a:ln>
        </p:spPr>
      </p:pic>
      <p:sp>
        <p:nvSpPr>
          <p:cNvPr id="319" name="Google Shape;319;p19"/>
          <p:cNvSpPr txBox="1"/>
          <p:nvPr/>
        </p:nvSpPr>
        <p:spPr>
          <a:xfrm>
            <a:off x="446467" y="2839634"/>
            <a:ext cx="10287200" cy="1190157"/>
          </a:xfrm>
          <a:prstGeom prst="rect">
            <a:avLst/>
          </a:prstGeom>
          <a:noFill/>
          <a:ln>
            <a:noFill/>
          </a:ln>
        </p:spPr>
        <p:txBody>
          <a:bodyPr spcFirstLastPara="1" wrap="square" lIns="121900" tIns="121900" rIns="121900" bIns="121900" anchor="t" anchorCtr="0">
            <a:spAutoFit/>
          </a:bodyPr>
          <a:lstStyle/>
          <a:p>
            <a:pPr>
              <a:lnSpc>
                <a:spcPct val="115000"/>
              </a:lnSpc>
            </a:pPr>
            <a:r>
              <a:rPr lang="ar" sz="2667" b="1">
                <a:solidFill>
                  <a:schemeClr val="lt1"/>
                </a:solidFill>
              </a:rPr>
              <a:t>Eliminating Columns with Complete or Near-Complete Missing Values and Discarding Irrelevant Variables for the Analysis</a:t>
            </a:r>
            <a:endParaRPr sz="1733">
              <a:solidFill>
                <a:schemeClr val="dk2"/>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0"/>
          <p:cNvSpPr txBox="1">
            <a:spLocks noGrp="1"/>
          </p:cNvSpPr>
          <p:nvPr>
            <p:ph type="ctrTitle"/>
          </p:nvPr>
        </p:nvSpPr>
        <p:spPr>
          <a:xfrm>
            <a:off x="0" y="0"/>
            <a:ext cx="12192000" cy="6751200"/>
          </a:xfrm>
          <a:prstGeom prst="rect">
            <a:avLst/>
          </a:prstGeom>
        </p:spPr>
        <p:txBody>
          <a:bodyPr spcFirstLastPara="1" vert="horz" wrap="square" lIns="121900" tIns="121900" rIns="121900" bIns="121900" rtlCol="0" anchor="ctr" anchorCtr="0">
            <a:normAutofit/>
          </a:bodyPr>
          <a:lstStyle/>
          <a:p>
            <a:pPr algn="l">
              <a:lnSpc>
                <a:spcPct val="115000"/>
              </a:lnSpc>
              <a:spcBef>
                <a:spcPts val="0"/>
              </a:spcBef>
            </a:pPr>
            <a:endParaRPr sz="2667">
              <a:latin typeface="Arial"/>
              <a:ea typeface="Arial"/>
              <a:cs typeface="Arial"/>
              <a:sym typeface="Arial"/>
            </a:endParaRPr>
          </a:p>
          <a:p>
            <a:pPr algn="l">
              <a:lnSpc>
                <a:spcPct val="115000"/>
              </a:lnSpc>
              <a:spcBef>
                <a:spcPts val="1600"/>
              </a:spcBef>
              <a:spcAft>
                <a:spcPts val="1600"/>
              </a:spcAft>
            </a:pPr>
            <a:endParaRPr sz="3867"/>
          </a:p>
        </p:txBody>
      </p:sp>
      <p:sp>
        <p:nvSpPr>
          <p:cNvPr id="325" name="Google Shape;325;p20"/>
          <p:cNvSpPr txBox="1"/>
          <p:nvPr/>
        </p:nvSpPr>
        <p:spPr>
          <a:xfrm>
            <a:off x="178600" y="89300"/>
            <a:ext cx="12013600" cy="2000400"/>
          </a:xfrm>
          <a:prstGeom prst="rect">
            <a:avLst/>
          </a:prstGeom>
          <a:noFill/>
          <a:ln>
            <a:noFill/>
          </a:ln>
        </p:spPr>
        <p:txBody>
          <a:bodyPr spcFirstLastPara="1" wrap="square" lIns="121900" tIns="121900" rIns="121900" bIns="121900" anchor="t" anchorCtr="0">
            <a:noAutofit/>
          </a:bodyPr>
          <a:lstStyle/>
          <a:p>
            <a:r>
              <a:rPr lang="ar" sz="3467">
                <a:solidFill>
                  <a:schemeClr val="lt1"/>
                </a:solidFill>
                <a:latin typeface="Nunito"/>
                <a:ea typeface="Nunito"/>
                <a:cs typeface="Nunito"/>
                <a:sym typeface="Nunito"/>
              </a:rPr>
              <a:t>Standardizing column names by stripping trailing whitespace, converting all characters to lowercase, and replacing spaces with underscores. </a:t>
            </a:r>
            <a:endParaRPr sz="3467">
              <a:solidFill>
                <a:schemeClr val="lt1"/>
              </a:solidFill>
              <a:latin typeface="Nunito"/>
              <a:ea typeface="Nunito"/>
              <a:cs typeface="Nunito"/>
              <a:sym typeface="Nunito"/>
            </a:endParaRPr>
          </a:p>
        </p:txBody>
      </p:sp>
      <p:pic>
        <p:nvPicPr>
          <p:cNvPr id="326" name="Google Shape;326;p20" title="Screenshot 2026-09-12 045836.png"/>
          <p:cNvPicPr preferRelativeResize="0"/>
          <p:nvPr/>
        </p:nvPicPr>
        <p:blipFill>
          <a:blip r:embed="rId3">
            <a:alphaModFix/>
          </a:blip>
          <a:stretch>
            <a:fillRect/>
          </a:stretch>
        </p:blipFill>
        <p:spPr>
          <a:xfrm>
            <a:off x="410767" y="2500300"/>
            <a:ext cx="10733500" cy="151806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1"/>
          <p:cNvSpPr txBox="1">
            <a:spLocks noGrp="1"/>
          </p:cNvSpPr>
          <p:nvPr>
            <p:ph type="subTitle" idx="1"/>
          </p:nvPr>
        </p:nvSpPr>
        <p:spPr>
          <a:xfrm>
            <a:off x="425600" y="678667"/>
            <a:ext cx="111828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3200"/>
              <a:t>Renaming specific columns to concise, professional, and standardized identifiers for better clarity and analysis. </a:t>
            </a:r>
            <a:endParaRPr sz="3200"/>
          </a:p>
        </p:txBody>
      </p:sp>
      <p:pic>
        <p:nvPicPr>
          <p:cNvPr id="332" name="Google Shape;332;p21" title="Screenshot 2026-09-12 050347.png"/>
          <p:cNvPicPr preferRelativeResize="0"/>
          <p:nvPr/>
        </p:nvPicPr>
        <p:blipFill>
          <a:blip r:embed="rId3">
            <a:alphaModFix/>
          </a:blip>
          <a:stretch>
            <a:fillRect/>
          </a:stretch>
        </p:blipFill>
        <p:spPr>
          <a:xfrm>
            <a:off x="750100" y="2597567"/>
            <a:ext cx="10590600" cy="3260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2"/>
          <p:cNvSpPr txBox="1">
            <a:spLocks noGrp="1"/>
          </p:cNvSpPr>
          <p:nvPr>
            <p:ph type="subTitle" idx="1"/>
          </p:nvPr>
        </p:nvSpPr>
        <p:spPr>
          <a:xfrm>
            <a:off x="282733" y="303633"/>
            <a:ext cx="114332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2800"/>
              <a:t>Removing whitespace and capitalizing the first letter of each word </a:t>
            </a:r>
            <a:endParaRPr sz="2800"/>
          </a:p>
        </p:txBody>
      </p:sp>
      <p:pic>
        <p:nvPicPr>
          <p:cNvPr id="338" name="Google Shape;338;p22" title="Screenshot 2026-09-12 052743.png"/>
          <p:cNvPicPr preferRelativeResize="0"/>
          <p:nvPr/>
        </p:nvPicPr>
        <p:blipFill>
          <a:blip r:embed="rId3">
            <a:alphaModFix/>
          </a:blip>
          <a:stretch>
            <a:fillRect/>
          </a:stretch>
        </p:blipFill>
        <p:spPr>
          <a:xfrm>
            <a:off x="1060401" y="946601"/>
            <a:ext cx="8343900" cy="1587500"/>
          </a:xfrm>
          <a:prstGeom prst="rect">
            <a:avLst/>
          </a:prstGeom>
          <a:noFill/>
          <a:ln>
            <a:noFill/>
          </a:ln>
        </p:spPr>
      </p:pic>
      <p:pic>
        <p:nvPicPr>
          <p:cNvPr id="339" name="Google Shape;339;p22" title="Screenshot 2026-09-12 052915.png"/>
          <p:cNvPicPr preferRelativeResize="0"/>
          <p:nvPr/>
        </p:nvPicPr>
        <p:blipFill>
          <a:blip r:embed="rId4">
            <a:alphaModFix/>
          </a:blip>
          <a:stretch>
            <a:fillRect/>
          </a:stretch>
        </p:blipFill>
        <p:spPr>
          <a:xfrm>
            <a:off x="937767" y="3856867"/>
            <a:ext cx="8267700" cy="2822567"/>
          </a:xfrm>
          <a:prstGeom prst="rect">
            <a:avLst/>
          </a:prstGeom>
          <a:noFill/>
          <a:ln>
            <a:noFill/>
          </a:ln>
        </p:spPr>
      </p:pic>
      <p:sp>
        <p:nvSpPr>
          <p:cNvPr id="340" name="Google Shape;340;p22"/>
          <p:cNvSpPr txBox="1"/>
          <p:nvPr/>
        </p:nvSpPr>
        <p:spPr>
          <a:xfrm>
            <a:off x="937767" y="2732500"/>
            <a:ext cx="10385200" cy="891600"/>
          </a:xfrm>
          <a:prstGeom prst="rect">
            <a:avLst/>
          </a:prstGeom>
          <a:noFill/>
          <a:ln>
            <a:noFill/>
          </a:ln>
        </p:spPr>
        <p:txBody>
          <a:bodyPr spcFirstLastPara="1" wrap="square" lIns="121900" tIns="121900" rIns="121900" bIns="121900" anchor="t" anchorCtr="0">
            <a:noAutofit/>
          </a:bodyPr>
          <a:lstStyle/>
          <a:p>
            <a:r>
              <a:rPr lang="ar" sz="2267">
                <a:solidFill>
                  <a:schemeClr val="lt1"/>
                </a:solidFill>
                <a:latin typeface="Nunito"/>
                <a:ea typeface="Nunito"/>
                <a:cs typeface="Nunito"/>
                <a:sym typeface="Nunito"/>
              </a:rPr>
              <a:t>Converting negative values and percentages greater than 100 to null within the context of data cleaning. </a:t>
            </a:r>
            <a:endParaRPr sz="2267">
              <a:solidFill>
                <a:schemeClr val="lt1"/>
              </a:solidFill>
              <a:latin typeface="Nunito"/>
              <a:ea typeface="Nunito"/>
              <a:cs typeface="Nunito"/>
              <a:sym typeface="Nuni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3"/>
          <p:cNvSpPr txBox="1">
            <a:spLocks noGrp="1"/>
          </p:cNvSpPr>
          <p:nvPr>
            <p:ph type="subTitle" idx="1"/>
          </p:nvPr>
        </p:nvSpPr>
        <p:spPr>
          <a:xfrm>
            <a:off x="282733" y="303633"/>
            <a:ext cx="114332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2800"/>
              <a:t>Dropping rows containing logical errors. </a:t>
            </a:r>
            <a:endParaRPr sz="2800"/>
          </a:p>
        </p:txBody>
      </p:sp>
      <p:sp>
        <p:nvSpPr>
          <p:cNvPr id="346" name="Google Shape;346;p23"/>
          <p:cNvSpPr txBox="1"/>
          <p:nvPr/>
        </p:nvSpPr>
        <p:spPr>
          <a:xfrm>
            <a:off x="282733" y="2731333"/>
            <a:ext cx="10385200" cy="1018000"/>
          </a:xfrm>
          <a:prstGeom prst="rect">
            <a:avLst/>
          </a:prstGeom>
          <a:noFill/>
          <a:ln>
            <a:noFill/>
          </a:ln>
        </p:spPr>
        <p:txBody>
          <a:bodyPr spcFirstLastPara="1" wrap="square" lIns="121900" tIns="121900" rIns="121900" bIns="121900" anchor="t" anchorCtr="0">
            <a:noAutofit/>
          </a:bodyPr>
          <a:lstStyle/>
          <a:p>
            <a:r>
              <a:rPr lang="ar" sz="2267" b="1">
                <a:solidFill>
                  <a:schemeClr val="lt1"/>
                </a:solidFill>
                <a:latin typeface="Nunito"/>
                <a:ea typeface="Nunito"/>
                <a:cs typeface="Nunito"/>
                <a:sym typeface="Nunito"/>
              </a:rPr>
              <a:t>Imputing missing (null) values for numeric columns with the median of each respective facility. </a:t>
            </a:r>
            <a:endParaRPr sz="2267" b="1">
              <a:solidFill>
                <a:schemeClr val="lt1"/>
              </a:solidFill>
              <a:latin typeface="Nunito"/>
              <a:ea typeface="Nunito"/>
              <a:cs typeface="Nunito"/>
              <a:sym typeface="Nunito"/>
            </a:endParaRPr>
          </a:p>
        </p:txBody>
      </p:sp>
      <p:pic>
        <p:nvPicPr>
          <p:cNvPr id="347" name="Google Shape;347;p23" title="Screenshot 2026-09-12 052958.png"/>
          <p:cNvPicPr preferRelativeResize="0"/>
          <p:nvPr/>
        </p:nvPicPr>
        <p:blipFill>
          <a:blip r:embed="rId3">
            <a:alphaModFix/>
          </a:blip>
          <a:stretch>
            <a:fillRect/>
          </a:stretch>
        </p:blipFill>
        <p:spPr>
          <a:xfrm>
            <a:off x="203218" y="1524834"/>
            <a:ext cx="9280132" cy="1003300"/>
          </a:xfrm>
          <a:prstGeom prst="rect">
            <a:avLst/>
          </a:prstGeom>
          <a:noFill/>
          <a:ln>
            <a:noFill/>
          </a:ln>
        </p:spPr>
      </p:pic>
      <p:pic>
        <p:nvPicPr>
          <p:cNvPr id="348" name="Google Shape;348;p23" title="Screenshot 2026-09-12 054457.png"/>
          <p:cNvPicPr preferRelativeResize="0"/>
          <p:nvPr/>
        </p:nvPicPr>
        <p:blipFill>
          <a:blip r:embed="rId4">
            <a:alphaModFix/>
          </a:blip>
          <a:stretch>
            <a:fillRect/>
          </a:stretch>
        </p:blipFill>
        <p:spPr>
          <a:xfrm>
            <a:off x="277618" y="3828467"/>
            <a:ext cx="9131300" cy="2584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4"/>
          <p:cNvSpPr txBox="1">
            <a:spLocks noGrp="1"/>
          </p:cNvSpPr>
          <p:nvPr>
            <p:ph type="subTitle" idx="1"/>
          </p:nvPr>
        </p:nvSpPr>
        <p:spPr>
          <a:xfrm>
            <a:off x="203200" y="321467"/>
            <a:ext cx="114332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2800"/>
              <a:t>After Cleaning</a:t>
            </a:r>
            <a:endParaRPr sz="2800"/>
          </a:p>
        </p:txBody>
      </p:sp>
      <p:pic>
        <p:nvPicPr>
          <p:cNvPr id="354" name="Google Shape;354;p24" title="Screenshot 2026-09-12 061954.png"/>
          <p:cNvPicPr preferRelativeResize="0"/>
          <p:nvPr/>
        </p:nvPicPr>
        <p:blipFill>
          <a:blip r:embed="rId3">
            <a:alphaModFix/>
          </a:blip>
          <a:stretch>
            <a:fillRect/>
          </a:stretch>
        </p:blipFill>
        <p:spPr>
          <a:xfrm>
            <a:off x="27000" y="1178701"/>
            <a:ext cx="12010235" cy="5679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5"/>
          <p:cNvSpPr txBox="1">
            <a:spLocks noGrp="1"/>
          </p:cNvSpPr>
          <p:nvPr>
            <p:ph type="subTitle" idx="1"/>
          </p:nvPr>
        </p:nvSpPr>
        <p:spPr>
          <a:xfrm>
            <a:off x="203200" y="321467"/>
            <a:ext cx="114332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2800"/>
              <a:t>After Cleaning</a:t>
            </a:r>
            <a:endParaRPr sz="2800"/>
          </a:p>
        </p:txBody>
      </p:sp>
      <p:pic>
        <p:nvPicPr>
          <p:cNvPr id="360" name="Google Shape;360;p25" title="Screenshot 2026-09-12 062053.png"/>
          <p:cNvPicPr preferRelativeResize="0"/>
          <p:nvPr/>
        </p:nvPicPr>
        <p:blipFill>
          <a:blip r:embed="rId3">
            <a:alphaModFix/>
          </a:blip>
          <a:stretch>
            <a:fillRect/>
          </a:stretch>
        </p:blipFill>
        <p:spPr>
          <a:xfrm>
            <a:off x="2089534" y="1453367"/>
            <a:ext cx="8626100" cy="531533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6"/>
          <p:cNvSpPr txBox="1">
            <a:spLocks noGrp="1"/>
          </p:cNvSpPr>
          <p:nvPr>
            <p:ph type="subTitle" idx="1"/>
          </p:nvPr>
        </p:nvSpPr>
        <p:spPr>
          <a:xfrm>
            <a:off x="160733" y="267867"/>
            <a:ext cx="11433200" cy="1018000"/>
          </a:xfrm>
          <a:prstGeom prst="rect">
            <a:avLst/>
          </a:prstGeom>
        </p:spPr>
        <p:txBody>
          <a:bodyPr spcFirstLastPara="1" vert="horz" wrap="square" lIns="121900" tIns="121900" rIns="121900" bIns="121900" rtlCol="0" anchor="t" anchorCtr="0">
            <a:noAutofit/>
          </a:bodyPr>
          <a:lstStyle/>
          <a:p>
            <a:pPr algn="l">
              <a:lnSpc>
                <a:spcPct val="115000"/>
              </a:lnSpc>
              <a:spcBef>
                <a:spcPts val="0"/>
              </a:spcBef>
            </a:pPr>
            <a:r>
              <a:rPr lang="ar" sz="3600" b="1">
                <a:latin typeface="Arial"/>
                <a:ea typeface="Arial"/>
                <a:cs typeface="Arial"/>
                <a:sym typeface="Arial"/>
              </a:rPr>
              <a:t>Analysis with Python</a:t>
            </a:r>
            <a:endParaRPr sz="3600" b="1">
              <a:latin typeface="Arial"/>
              <a:ea typeface="Arial"/>
              <a:cs typeface="Arial"/>
              <a:sym typeface="Arial"/>
            </a:endParaRPr>
          </a:p>
          <a:p>
            <a:pPr algn="l">
              <a:spcBef>
                <a:spcPts val="0"/>
              </a:spcBef>
            </a:pPr>
            <a:endParaRPr sz="2800"/>
          </a:p>
        </p:txBody>
      </p:sp>
      <p:sp>
        <p:nvSpPr>
          <p:cNvPr id="366" name="Google Shape;366;p26"/>
          <p:cNvSpPr txBox="1"/>
          <p:nvPr/>
        </p:nvSpPr>
        <p:spPr>
          <a:xfrm>
            <a:off x="160733" y="1285867"/>
            <a:ext cx="10772400" cy="2626576"/>
          </a:xfrm>
          <a:prstGeom prst="rect">
            <a:avLst/>
          </a:prstGeom>
          <a:noFill/>
          <a:ln>
            <a:noFill/>
          </a:ln>
        </p:spPr>
        <p:txBody>
          <a:bodyPr spcFirstLastPara="1" wrap="square" lIns="121900" tIns="121900" rIns="121900" bIns="121900" anchor="t" anchorCtr="0">
            <a:spAutoFit/>
          </a:bodyPr>
          <a:lstStyle/>
          <a:p>
            <a:r>
              <a:rPr lang="ar" sz="3867">
                <a:solidFill>
                  <a:schemeClr val="lt1"/>
                </a:solidFill>
                <a:latin typeface="Nunito"/>
                <a:ea typeface="Nunito"/>
                <a:cs typeface="Nunito"/>
                <a:sym typeface="Nunito"/>
              </a:rPr>
              <a:t>To explore the temporal trajectory of total emissions over the years and understand their proportional distribution, we leverage Python to visualize the patterns through line and pie charts.</a:t>
            </a:r>
            <a:endParaRPr sz="3867">
              <a:solidFill>
                <a:schemeClr val="lt1"/>
              </a:solidFill>
              <a:latin typeface="Nunito"/>
              <a:ea typeface="Nunito"/>
              <a:cs typeface="Nunito"/>
              <a:sym typeface="Nuni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7"/>
          <p:cNvSpPr txBox="1">
            <a:spLocks noGrp="1"/>
          </p:cNvSpPr>
          <p:nvPr>
            <p:ph type="subTitle" idx="1"/>
          </p:nvPr>
        </p:nvSpPr>
        <p:spPr>
          <a:xfrm>
            <a:off x="160733" y="267867"/>
            <a:ext cx="114332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3467"/>
              <a:t>Creating a line chart to illustrate the relationship between time and total emissions </a:t>
            </a:r>
            <a:endParaRPr sz="3467"/>
          </a:p>
        </p:txBody>
      </p:sp>
      <p:sp>
        <p:nvSpPr>
          <p:cNvPr id="372" name="Google Shape;372;p27"/>
          <p:cNvSpPr txBox="1"/>
          <p:nvPr/>
        </p:nvSpPr>
        <p:spPr>
          <a:xfrm>
            <a:off x="160733" y="1285867"/>
            <a:ext cx="10772400" cy="841280"/>
          </a:xfrm>
          <a:prstGeom prst="rect">
            <a:avLst/>
          </a:prstGeom>
          <a:noFill/>
          <a:ln>
            <a:noFill/>
          </a:ln>
        </p:spPr>
        <p:txBody>
          <a:bodyPr spcFirstLastPara="1" wrap="square" lIns="121900" tIns="121900" rIns="121900" bIns="121900" anchor="t" anchorCtr="0">
            <a:spAutoFit/>
          </a:bodyPr>
          <a:lstStyle/>
          <a:p>
            <a:endParaRPr sz="3867">
              <a:solidFill>
                <a:schemeClr val="lt1"/>
              </a:solidFill>
              <a:latin typeface="Nunito"/>
              <a:ea typeface="Nunito"/>
              <a:cs typeface="Nunito"/>
              <a:sym typeface="Nunito"/>
            </a:endParaRPr>
          </a:p>
        </p:txBody>
      </p:sp>
      <p:pic>
        <p:nvPicPr>
          <p:cNvPr id="373" name="Google Shape;373;p27" title="Screenshot 2026-09-12 060441.png"/>
          <p:cNvPicPr preferRelativeResize="0"/>
          <p:nvPr/>
        </p:nvPicPr>
        <p:blipFill>
          <a:blip r:embed="rId3">
            <a:alphaModFix/>
          </a:blip>
          <a:stretch>
            <a:fillRect/>
          </a:stretch>
        </p:blipFill>
        <p:spPr>
          <a:xfrm>
            <a:off x="0" y="2127466"/>
            <a:ext cx="11557000" cy="188633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8"/>
          <p:cNvSpPr txBox="1">
            <a:spLocks noGrp="1"/>
          </p:cNvSpPr>
          <p:nvPr>
            <p:ph type="subTitle" idx="1"/>
          </p:nvPr>
        </p:nvSpPr>
        <p:spPr>
          <a:xfrm>
            <a:off x="379400" y="267867"/>
            <a:ext cx="11433200" cy="1018000"/>
          </a:xfrm>
          <a:prstGeom prst="rect">
            <a:avLst/>
          </a:prstGeom>
        </p:spPr>
        <p:txBody>
          <a:bodyPr spcFirstLastPara="1" vert="horz" wrap="square" lIns="121900" tIns="121900" rIns="121900" bIns="121900" rtlCol="0" anchor="t" anchorCtr="0">
            <a:noAutofit/>
          </a:bodyPr>
          <a:lstStyle/>
          <a:p>
            <a:pPr algn="l">
              <a:lnSpc>
                <a:spcPct val="115000"/>
              </a:lnSpc>
              <a:spcBef>
                <a:spcPts val="0"/>
              </a:spcBef>
            </a:pPr>
            <a:endParaRPr sz="3600" b="1">
              <a:latin typeface="Arial"/>
              <a:ea typeface="Arial"/>
              <a:cs typeface="Arial"/>
              <a:sym typeface="Arial"/>
            </a:endParaRPr>
          </a:p>
          <a:p>
            <a:pPr algn="l">
              <a:spcBef>
                <a:spcPts val="0"/>
              </a:spcBef>
            </a:pPr>
            <a:endParaRPr sz="2800"/>
          </a:p>
        </p:txBody>
      </p:sp>
      <p:sp>
        <p:nvSpPr>
          <p:cNvPr id="379" name="Google Shape;379;p28"/>
          <p:cNvSpPr txBox="1"/>
          <p:nvPr/>
        </p:nvSpPr>
        <p:spPr>
          <a:xfrm>
            <a:off x="160733" y="1285867"/>
            <a:ext cx="10772400" cy="841280"/>
          </a:xfrm>
          <a:prstGeom prst="rect">
            <a:avLst/>
          </a:prstGeom>
          <a:noFill/>
          <a:ln>
            <a:noFill/>
          </a:ln>
        </p:spPr>
        <p:txBody>
          <a:bodyPr spcFirstLastPara="1" wrap="square" lIns="121900" tIns="121900" rIns="121900" bIns="121900" anchor="t" anchorCtr="0">
            <a:spAutoFit/>
          </a:bodyPr>
          <a:lstStyle/>
          <a:p>
            <a:endParaRPr sz="3867">
              <a:solidFill>
                <a:schemeClr val="lt1"/>
              </a:solidFill>
              <a:latin typeface="Nunito"/>
              <a:ea typeface="Nunito"/>
              <a:cs typeface="Nunito"/>
              <a:sym typeface="Nunito"/>
            </a:endParaRPr>
          </a:p>
        </p:txBody>
      </p:sp>
      <p:pic>
        <p:nvPicPr>
          <p:cNvPr id="380" name="Google Shape;380;p28" title="newplot.png"/>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9"/>
          <p:cNvSpPr txBox="1">
            <a:spLocks noGrp="1"/>
          </p:cNvSpPr>
          <p:nvPr>
            <p:ph type="subTitle" idx="1"/>
          </p:nvPr>
        </p:nvSpPr>
        <p:spPr>
          <a:xfrm>
            <a:off x="558000" y="267867"/>
            <a:ext cx="11433200" cy="1018000"/>
          </a:xfrm>
          <a:prstGeom prst="rect">
            <a:avLst/>
          </a:prstGeom>
        </p:spPr>
        <p:txBody>
          <a:bodyPr spcFirstLastPara="1" vert="horz" wrap="square" lIns="121900" tIns="121900" rIns="121900" bIns="121900" rtlCol="0" anchor="t" anchorCtr="0">
            <a:noAutofit/>
          </a:bodyPr>
          <a:lstStyle/>
          <a:p>
            <a:pPr algn="l">
              <a:spcBef>
                <a:spcPts val="0"/>
              </a:spcBef>
            </a:pPr>
            <a:r>
              <a:rPr lang="ar" sz="2800"/>
              <a:t>Creating pie chart illustrating the emission proportions for each year </a:t>
            </a:r>
            <a:endParaRPr sz="2800"/>
          </a:p>
        </p:txBody>
      </p:sp>
      <p:sp>
        <p:nvSpPr>
          <p:cNvPr id="386" name="Google Shape;386;p29"/>
          <p:cNvSpPr txBox="1"/>
          <p:nvPr/>
        </p:nvSpPr>
        <p:spPr>
          <a:xfrm>
            <a:off x="160733" y="1285867"/>
            <a:ext cx="10772400" cy="841280"/>
          </a:xfrm>
          <a:prstGeom prst="rect">
            <a:avLst/>
          </a:prstGeom>
          <a:noFill/>
          <a:ln>
            <a:noFill/>
          </a:ln>
        </p:spPr>
        <p:txBody>
          <a:bodyPr spcFirstLastPara="1" wrap="square" lIns="121900" tIns="121900" rIns="121900" bIns="121900" anchor="t" anchorCtr="0">
            <a:spAutoFit/>
          </a:bodyPr>
          <a:lstStyle/>
          <a:p>
            <a:endParaRPr sz="3867">
              <a:solidFill>
                <a:schemeClr val="lt1"/>
              </a:solidFill>
              <a:latin typeface="Nunito"/>
              <a:ea typeface="Nunito"/>
              <a:cs typeface="Nunito"/>
              <a:sym typeface="Nunito"/>
            </a:endParaRPr>
          </a:p>
        </p:txBody>
      </p:sp>
      <p:pic>
        <p:nvPicPr>
          <p:cNvPr id="387" name="Google Shape;387;p29" title="Screenshot 2026-09-12 060634.png"/>
          <p:cNvPicPr preferRelativeResize="0"/>
          <p:nvPr/>
        </p:nvPicPr>
        <p:blipFill>
          <a:blip r:embed="rId3">
            <a:alphaModFix/>
          </a:blip>
          <a:stretch>
            <a:fillRect/>
          </a:stretch>
        </p:blipFill>
        <p:spPr>
          <a:xfrm>
            <a:off x="787400" y="1788167"/>
            <a:ext cx="9519067" cy="419693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0"/>
          <p:cNvSpPr txBox="1">
            <a:spLocks noGrp="1"/>
          </p:cNvSpPr>
          <p:nvPr>
            <p:ph type="subTitle" idx="1"/>
          </p:nvPr>
        </p:nvSpPr>
        <p:spPr>
          <a:xfrm>
            <a:off x="379400" y="267867"/>
            <a:ext cx="11433200" cy="1018000"/>
          </a:xfrm>
          <a:prstGeom prst="rect">
            <a:avLst/>
          </a:prstGeom>
        </p:spPr>
        <p:txBody>
          <a:bodyPr spcFirstLastPara="1" vert="horz" wrap="square" lIns="121900" tIns="121900" rIns="121900" bIns="121900" rtlCol="0" anchor="t" anchorCtr="0">
            <a:noAutofit/>
          </a:bodyPr>
          <a:lstStyle/>
          <a:p>
            <a:pPr algn="l">
              <a:lnSpc>
                <a:spcPct val="115000"/>
              </a:lnSpc>
              <a:spcBef>
                <a:spcPts val="0"/>
              </a:spcBef>
            </a:pPr>
            <a:endParaRPr sz="3600" b="1">
              <a:latin typeface="Arial"/>
              <a:ea typeface="Arial"/>
              <a:cs typeface="Arial"/>
              <a:sym typeface="Arial"/>
            </a:endParaRPr>
          </a:p>
          <a:p>
            <a:pPr algn="l">
              <a:spcBef>
                <a:spcPts val="0"/>
              </a:spcBef>
            </a:pPr>
            <a:endParaRPr sz="2800"/>
          </a:p>
        </p:txBody>
      </p:sp>
      <p:sp>
        <p:nvSpPr>
          <p:cNvPr id="393" name="Google Shape;393;p30"/>
          <p:cNvSpPr txBox="1"/>
          <p:nvPr/>
        </p:nvSpPr>
        <p:spPr>
          <a:xfrm>
            <a:off x="160733" y="1285867"/>
            <a:ext cx="10772400" cy="841280"/>
          </a:xfrm>
          <a:prstGeom prst="rect">
            <a:avLst/>
          </a:prstGeom>
          <a:noFill/>
          <a:ln>
            <a:noFill/>
          </a:ln>
        </p:spPr>
        <p:txBody>
          <a:bodyPr spcFirstLastPara="1" wrap="square" lIns="121900" tIns="121900" rIns="121900" bIns="121900" anchor="t" anchorCtr="0">
            <a:spAutoFit/>
          </a:bodyPr>
          <a:lstStyle/>
          <a:p>
            <a:endParaRPr sz="3867">
              <a:solidFill>
                <a:schemeClr val="lt1"/>
              </a:solidFill>
              <a:latin typeface="Nunito"/>
              <a:ea typeface="Nunito"/>
              <a:cs typeface="Nunito"/>
              <a:sym typeface="Nunito"/>
            </a:endParaRPr>
          </a:p>
        </p:txBody>
      </p:sp>
      <p:pic>
        <p:nvPicPr>
          <p:cNvPr id="394" name="Google Shape;394;p30" title="newplot (1).png"/>
          <p:cNvPicPr preferRelativeResize="0"/>
          <p:nvPr/>
        </p:nvPicPr>
        <p:blipFill>
          <a:blip r:embed="rId3">
            <a:alphaModFix/>
          </a:blip>
          <a:stretch>
            <a:fillRect/>
          </a:stretch>
        </p:blipFill>
        <p:spPr>
          <a:xfrm>
            <a:off x="0" y="0"/>
            <a:ext cx="12192000" cy="7036600"/>
          </a:xfrm>
          <a:prstGeom prst="rect">
            <a:avLst/>
          </a:prstGeom>
          <a:noFill/>
          <a:ln>
            <a:noFill/>
          </a:ln>
        </p:spPr>
      </p:pic>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413</TotalTime>
  <Words>1637</Words>
  <Application>Microsoft Office PowerPoint</Application>
  <PresentationFormat>Widescreen</PresentationFormat>
  <Paragraphs>191</Paragraphs>
  <Slides>40</Slides>
  <Notes>18</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Aptos</vt:lpstr>
      <vt:lpstr>Arial</vt:lpstr>
      <vt:lpstr>Arial Nova Light</vt:lpstr>
      <vt:lpstr>Arial Unicode MS</vt:lpstr>
      <vt:lpstr>Nunito</vt:lpstr>
      <vt:lpstr>Roboto</vt:lpstr>
      <vt:lpstr>Roboto Mono</vt:lpstr>
      <vt:lpstr>Wingdings</vt:lpstr>
      <vt:lpstr>Dark Gradient</vt:lpstr>
      <vt:lpstr>Carbon Emissions Analytics &amp; Sustainable Finance Platform</vt:lpstr>
      <vt:lpstr>The Problem</vt:lpstr>
      <vt:lpstr>Our Solution</vt:lpstr>
      <vt:lpstr>Identifying High-Impact Companies</vt:lpstr>
      <vt:lpstr>From Emissions to Financing Decisions</vt:lpstr>
      <vt:lpstr>AI &amp; Predictive Analytics</vt:lpstr>
      <vt:lpstr>Business &amp; Environmental Impact</vt:lpstr>
      <vt:lpstr>PowerPoint Presentation</vt:lpstr>
      <vt:lpstr>Comprehensive Power Query Data Cleaning Pipeline ​Source File &amp; Metadata Handling:</vt:lpstr>
      <vt:lpstr>PowerPoint Presentation</vt:lpstr>
      <vt:lpstr>PowerPoint Presentation</vt:lpstr>
      <vt:lpstr>Executive KPI Cards (Top Metrics):</vt:lpstr>
      <vt:lpstr>                                             Habiba mohamed</vt:lpstr>
      <vt:lpstr> Machine Learning &amp; Emission Forecasting Pipeline</vt:lpstr>
      <vt:lpstr>Advanced Feature Engineering &amp; Data Preparation</vt:lpstr>
      <vt:lpstr>Model Architecture &amp; Selection</vt:lpstr>
      <vt:lpstr>Abdelrahman Mohamed</vt:lpstr>
      <vt:lpstr>MySQL &amp; Database Implementation</vt:lpstr>
      <vt:lpstr>Yearly Emissions Analysis</vt:lpstr>
      <vt:lpstr>Data Model Structure Organizing emissions data into related tables to support analysis and reporting. </vt:lpstr>
      <vt:lpstr>Interactive Carbon Emissions Dashboard</vt:lpstr>
      <vt:lpstr>Top 15 facility in DE</vt:lpstr>
      <vt:lpstr>Python : Data Cleaning &amp; Analysis</vt:lpstr>
      <vt:lpstr>Data cleaning  Data Cleaning is a crucial step in any data Analysis project. Real-world data is often messy, containing missing values, duplicates, and inconsistencies. Using Python, we systematically clean and prepare our dataset—handling anomalies and ensuring high data integrity—to build accurate and reliable analytical models.</vt:lpstr>
      <vt:lpstr>The raw dataset we have is completely unorganized and messy. It requires major preprocessing, such as handling missing values, removing duplicates, and properly organizing text columns, alongside other adjustments that we will explore together in the upcoming slides.</vt:lpstr>
      <vt:lpstr>PowerPoint Presentation</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Abdelrahman mohamed</dc:creator>
  <cp:lastModifiedBy>Abdelrahman mohamed</cp:lastModifiedBy>
  <cp:revision>2</cp:revision>
  <dcterms:created xsi:type="dcterms:W3CDTF">2026-09-12T00:25:55Z</dcterms:created>
  <dcterms:modified xsi:type="dcterms:W3CDTF">2026-09-12T07:21:22Z</dcterms:modified>
</cp:coreProperties>
</file>